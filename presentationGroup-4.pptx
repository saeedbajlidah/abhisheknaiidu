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9" d="100"/>
          <a:sy n="69" d="100"/>
        </p:scale>
        <p:origin x="540" y="-1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8806889"/>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a:p>
        </p:txBody>
      </p:sp>
      <p:sp>
        <p:nvSpPr>
          <p:cNvPr id="3" name="Notes Placeholder 2"/>
          <p:cNvSpPr>
            <a:spLocks noGrp="1"/>
          </p:cNvSpPr>
          <p:nvPr>
            <p:ph type="body" idx="1"/>
          </p:nvPr>
        </p:nvSpPr>
        <p:spPr/>
        <p:txBody>
          <a:bodyPr/>
          <a:lstStyle/>
          <a:p>
            <a:r>
              <a:rPr lang="en-US" dirty="0"/>
              <a:t>Good morning. We are Group 4 and our project for Design and Analysis of Algorithms is a single Java program that implements three algorithms from the course: merging two sorted sub-arrays, the selection problem for the k-th smallest element, and Kruskal's minimum spanning tree. I will introduce the problems first, then explain each algorithm with a worked example, then move to complexity, testing and the issues we faced. The whole presentation takes about ten minutes and I will run a short demo at the 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a:p>
        </p:txBody>
      </p:sp>
      <p:sp>
        <p:nvSpPr>
          <p:cNvPr id="3" name="Notes Placeholder 2"/>
          <p:cNvSpPr>
            <a:spLocks noGrp="1"/>
          </p:cNvSpPr>
          <p:nvPr>
            <p:ph type="body" idx="1"/>
          </p:nvPr>
        </p:nvSpPr>
        <p:spPr/>
        <p:txBody>
          <a:bodyPr/>
          <a:lstStyle/>
          <a:p>
            <a:r>
              <a:rPr lang="en-US" dirty="0"/>
              <a:t>The starting point of the project is a very practical one: when data sets get large, a slow algorithm costs real processing time and real money. We picked three algorithms that attack three different parts of that problem. Merging combines two already sorted parts of an array in linear time. Selection returns the k-th smallest value without paying for a full sort. Kruskal builds the cheapest network that still connects everything. All three live inside one Java file with a console menu, shown on the right, so the instructor can run any of them from the same program.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a:p>
        </p:txBody>
      </p:sp>
      <p:sp>
        <p:nvSpPr>
          <p:cNvPr id="3" name="Notes Placeholder 2"/>
          <p:cNvSpPr>
            <a:spLocks noGrp="1"/>
          </p:cNvSpPr>
          <p:nvPr>
            <p:ph type="body" idx="1"/>
          </p:nvPr>
        </p:nvSpPr>
        <p:spPr/>
        <p:txBody>
          <a:bodyPr/>
          <a:lstStyle/>
          <a:p>
            <a:r>
              <a:rPr lang="en-US" dirty="0"/>
              <a:t>Here are the three problems stated precisely, because each one has its own input and its own output. Merging assumes the two halves are already sorted, so we must not sort again. Selection takes an unsorted array and a rank k, and returns only one value. Kruskal takes a weighted graph and returns a set of edges plus the total weight. The objective of the project was to implement all three correctly in Java and then evaluate how they perform.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a:p>
        </p:txBody>
      </p:sp>
      <p:sp>
        <p:nvSpPr>
          <p:cNvPr id="3" name="Notes Placeholder 2"/>
          <p:cNvSpPr>
            <a:spLocks noGrp="1"/>
          </p:cNvSpPr>
          <p:nvPr>
            <p:ph type="body" idx="1"/>
          </p:nvPr>
        </p:nvSpPr>
        <p:spPr/>
        <p:txBody>
          <a:bodyPr/>
          <a:lstStyle/>
          <a:p>
            <a:r>
              <a:rPr lang="en-US" dirty="0"/>
              <a:t>The first algorithm is the merge routine. It is the combine step of merge sort, used on its own. We copy the left range and the right range into two temporary arrays, then walk both of them with two pointers and always write the smaller of the two front elements back into the original array. When one side runs out, we copy the remainder of the other side. Every element is looked at exactly once, so the cost is linear in the number of elements merged, and the price we pay is the temporary copies, which is linear extra space.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a:p>
        </p:txBody>
      </p:sp>
      <p:sp>
        <p:nvSpPr>
          <p:cNvPr id="3" name="Notes Placeholder 2"/>
          <p:cNvSpPr>
            <a:spLocks noGrp="1"/>
          </p:cNvSpPr>
          <p:nvPr>
            <p:ph type="body" idx="1"/>
          </p:nvPr>
        </p:nvSpPr>
        <p:spPr/>
        <p:txBody>
          <a:bodyPr/>
          <a:lstStyle/>
          <a:p>
            <a:r>
              <a:rPr lang="en-US" dirty="0"/>
              <a:t>Let us trace it on a small example. The array holds two sorted halves: two, five, eight and one, three, nine. We compare the fronts of the two halves step by step: one is smaller than two, so one goes first; then two, then three, then five, then eight; at that point the left half is empty so we simply copy the remaining nine. Six elements needed six moves. If we had re-sorted the whole array instead we would have paid n log n for information we already had.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a:p>
        </p:txBody>
      </p:sp>
      <p:sp>
        <p:nvSpPr>
          <p:cNvPr id="3" name="Notes Placeholder 2"/>
          <p:cNvSpPr>
            <a:spLocks noGrp="1"/>
          </p:cNvSpPr>
          <p:nvPr>
            <p:ph type="body" idx="1"/>
          </p:nvPr>
        </p:nvSpPr>
        <p:spPr/>
        <p:txBody>
          <a:bodyPr/>
          <a:lstStyle/>
          <a:p>
            <a:r>
              <a:rPr lang="en-US" dirty="0"/>
              <a:t>The second algorithm answers a different question: give me the k-th smallest value, for example the median. The naive way is to sort and index, but that costs n log n for a single value. The deterministic median-of-medians method does it in linear worst case. We break the array into groups of five, sort each tiny group, take its median, and then recursively find the median of those medians to use as the pivot. Then we split into three lists: smaller, equal and greater. Because we know the sizes, we recurse into only one of them. The equal list is what makes duplicates safe, and I will come back to that in the issues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a:p>
        </p:txBody>
      </p:sp>
      <p:sp>
        <p:nvSpPr>
          <p:cNvPr id="3" name="Notes Placeholder 2"/>
          <p:cNvSpPr>
            <a:spLocks noGrp="1"/>
          </p:cNvSpPr>
          <p:nvPr>
            <p:ph type="body" idx="1"/>
          </p:nvPr>
        </p:nvSpPr>
        <p:spPr/>
        <p:txBody>
          <a:bodyPr/>
          <a:lstStyle/>
          <a:p>
            <a:r>
              <a:rPr lang="en-US" dirty="0"/>
              <a:t>This is the trace on eleven values with k equal to six. We build three groups, sort each and take the medians five, nineteen and fifteen; the median of those is fifteen, so fifteen becomes our pivot. Partitioning gives seven elements below it, one equal, three above. Since six is not larger than seven, the answer must be inside the lower list, so we recurse there and eventually reach a group small enough to sort directly. The answer is nine, and you can verify it on the sorted order shown on the right: nine really is the sixth smallest. Notice we never sorted the full array.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a:p>
        </p:txBody>
      </p:sp>
      <p:sp>
        <p:nvSpPr>
          <p:cNvPr id="3" name="Notes Placeholder 2"/>
          <p:cNvSpPr>
            <a:spLocks noGrp="1"/>
          </p:cNvSpPr>
          <p:nvPr>
            <p:ph type="body" idx="1"/>
          </p:nvPr>
        </p:nvSpPr>
        <p:spPr/>
        <p:txBody>
          <a:bodyPr/>
          <a:lstStyle/>
          <a:p>
            <a:r>
              <a:rPr lang="en-US" dirty="0"/>
              <a:t>The third algorithm is Kruskal's minimum spanning tree, and it is greedy. We sort all edges by weight and then walk the sorted list from the cheapest edge upward. An edge is accepted only when its two endpoints belong to different components, otherwise it would close a cycle. The component test is done with a disjoint-set union structure using path compression, which makes each query almost constant time. Once we have accepted V minus one edges the tree is complete and we stop. The overall cost is therefore dominated by sorting the edges, E log 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a:p>
        </p:txBody>
      </p:sp>
      <p:sp>
        <p:nvSpPr>
          <p:cNvPr id="3" name="Notes Placeholder 2"/>
          <p:cNvSpPr>
            <a:spLocks noGrp="1"/>
          </p:cNvSpPr>
          <p:nvPr>
            <p:ph type="body" idx="1"/>
          </p:nvPr>
        </p:nvSpPr>
        <p:spPr/>
        <p:txBody>
          <a:bodyPr/>
          <a:lstStyle/>
          <a:p>
            <a:r>
              <a:rPr lang="en-US" dirty="0"/>
              <a:t>Here is a five-vertex graph with seven edges, already listed in sorted order by weight. We take edge two-three of weight one, then one-two of weight two. The next edge, one-three, would close a triangle, so the disjoint-set check rejects it. We add two-four, reject three-four for the same cycle reason, and finally add three-five. That is four accepted edges, which is V minus one, so the algorithm stops even though one edge is still unexamined. The total cost is thirteen.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a:p>
        </p:txBody>
      </p:sp>
      <p:sp>
        <p:nvSpPr>
          <p:cNvPr id="3" name="Notes Placeholder 2"/>
          <p:cNvSpPr>
            <a:spLocks noGrp="1"/>
          </p:cNvSpPr>
          <p:nvPr>
            <p:ph type="body" idx="1"/>
          </p:nvPr>
        </p:nvSpPr>
        <p:spPr/>
        <p:txBody>
          <a:bodyPr/>
          <a:lstStyle/>
          <a:p>
            <a:r>
              <a:rPr lang="en-US" dirty="0"/>
              <a:t>This slide collects the analysis from the report. Merge is linear no matter what the data looks like, because it always touches each element once. Deterministic selection is linear in the worst case as well, and the reason is the recurrence at the bottom: the pivot from the median of medians guarantees that we throw away a constant fraction of the array in every round, so the work forms a geometric series that sums to order n. Kruskal is E log E because sorting the edges dominates; the cycle checks themselves are almost free thanks to path compression.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a:p>
        </p:txBody>
      </p:sp>
      <p:sp>
        <p:nvSpPr>
          <p:cNvPr id="3" name="Notes Placeholder 2"/>
          <p:cNvSpPr>
            <a:spLocks noGrp="1"/>
          </p:cNvSpPr>
          <p:nvPr>
            <p:ph type="body" idx="1"/>
          </p:nvPr>
        </p:nvSpPr>
        <p:spPr/>
        <p:txBody>
          <a:bodyPr/>
          <a:lstStyle/>
          <a:p>
            <a:r>
              <a:rPr lang="en-US" dirty="0"/>
              <a:t>On the implementation side everything is written in plain Java with the standard library only, no external dependencies, which keeps the program portable across any JDK. The whole program lives in one class because the submission had to be a single runnable file. The four custom methods are listed on the right; the Edge class implements Comparable so that the built-in sort can order edges by weight for us. Two decisions are worth mentioning: all input is read line by line and parsed manually, and every index and rank is validated before the algorithm is called, so a wrong entry prints a message instead of throwing an exception.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a:p>
        </p:txBody>
      </p:sp>
      <p:sp>
        <p:nvSpPr>
          <p:cNvPr id="3" name="Notes Placeholder 2"/>
          <p:cNvSpPr>
            <a:spLocks noGrp="1"/>
          </p:cNvSpPr>
          <p:nvPr>
            <p:ph type="body" idx="1"/>
          </p:nvPr>
        </p:nvSpPr>
        <p:spPr/>
        <p:txBody>
          <a:bodyPr/>
          <a:lstStyle/>
          <a:p>
            <a:r>
              <a:rPr lang="en-US" dirty="0"/>
              <a:t>Testing was done in three layers. First each routine on its own against small data sets where we knew the answer by hand, which is how we verified index bounds, the median calculation and the union-find logic. Second the boundary cases: invalid indices for merge, a k outside one to n, and graphs that are disconnected. The rule was that these must print an error and return to the menu, never crash. Third we ran the algorithms one after another in the same session to make sure the scanner and the program state stay clean. All modules passed.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a:p>
        </p:txBody>
      </p:sp>
      <p:sp>
        <p:nvSpPr>
          <p:cNvPr id="3" name="Notes Placeholder 2"/>
          <p:cNvSpPr>
            <a:spLocks noGrp="1"/>
          </p:cNvSpPr>
          <p:nvPr>
            <p:ph type="body" idx="1"/>
          </p:nvPr>
        </p:nvSpPr>
        <p:spPr/>
        <p:txBody>
          <a:bodyPr/>
          <a:lstStyle/>
          <a:p>
            <a:r>
              <a:rPr lang="en-US" dirty="0"/>
              <a:t>These are the three real problems we hit, and I want to be honest that none of them were about the algorithms themselves. The first was the classic Scanner problem: mixing nextInt with nextLine leaves a newline in the buffer and the next prompt gets skipped. We fixed it by reading everything as a line and parsing it ourselves. The second was serious: with many duplicate values the two-way partition kept recursing on the same elements until the stack overflowed, and the three-way partition with an equals list solved it and restored the linear bound. The third appeared only when we merged our three separate files into one, and we solved it by flattening everything into static members of one class.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a:p>
        </p:txBody>
      </p:sp>
      <p:sp>
        <p:nvSpPr>
          <p:cNvPr id="3" name="Notes Placeholder 2"/>
          <p:cNvSpPr>
            <a:spLocks noGrp="1"/>
          </p:cNvSpPr>
          <p:nvPr>
            <p:ph type="body" idx="1"/>
          </p:nvPr>
        </p:nvSpPr>
        <p:spPr/>
        <p:txBody>
          <a:bodyPr/>
          <a:lstStyle/>
          <a:p>
            <a:r>
              <a:rPr lang="en-US" dirty="0"/>
              <a:t>To conclude: we implemented, tested and analysed three algorithms from the course inside a single working Java program, and the measured behaviour matched the theory in each case. The biggest technical lesson for us was how much the choice of data structure decides the complexity, disjoint-set union being the clearest example. The biggest practical lesson was that integrating three people's code and handling user input took more of our time than writing the algorithms. If we did it again we would fix shared coding standards from day one and add a generator for random arrays and graphs so testing does not require typing long inputs.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a:p>
        </p:txBody>
      </p:sp>
      <p:sp>
        <p:nvSpPr>
          <p:cNvPr id="3" name="Notes Placeholder 2"/>
          <p:cNvSpPr>
            <a:spLocks noGrp="1"/>
          </p:cNvSpPr>
          <p:nvPr>
            <p:ph type="body" idx="1"/>
          </p:nvPr>
        </p:nvSpPr>
        <p:spPr/>
        <p:txBody>
          <a:bodyPr/>
          <a:lstStyle/>
          <a:p>
            <a:r>
              <a:rPr lang="en-US" dirty="0"/>
              <a:t>Finally, a quick demo. The program is compiled and run with two commands, then the menu appears and I choose option three for Kruskal. I enter five vertices and seven edges, then the edge list, and the program prints the tree edges and the total weight of thirteen, which is exactly the result we traced earlier. I am happy to run options one and two as well. Thank you for listening, and we are ready for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C1652F"/>
          </a:solidFill>
          <a:ln/>
        </p:spPr>
        <p:txBody>
          <a:bodyPr/>
          <a:lstStyle/>
          <a:p>
            <a:endParaRPr lang="ar-SA"/>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43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C1652F"/>
          </a:solidFill>
          <a:ln/>
        </p:spPr>
        <p:txBody>
          <a:bodyPr/>
          <a:lstStyle/>
          <a:p>
            <a:endParaRPr lang="ar-SA"/>
          </a:p>
        </p:txBody>
      </p:sp>
      <p:sp>
        <p:nvSpPr>
          <p:cNvPr id="4" name="Text 2"/>
          <p:cNvSpPr/>
          <p:nvPr/>
        </p:nvSpPr>
        <p:spPr>
          <a:xfrm>
            <a:off x="1658711" y="2061969"/>
            <a:ext cx="8874577" cy="711680"/>
          </a:xfrm>
          <a:prstGeom prst="rect">
            <a:avLst/>
          </a:prstGeom>
          <a:noFill/>
          <a:ln/>
        </p:spPr>
        <p:txBody>
          <a:bodyPr wrap="square" rtlCol="0" anchor="t"/>
          <a:lstStyle/>
          <a:p>
            <a:pPr algn="ctr">
              <a:lnSpc>
                <a:spcPct val="115000"/>
              </a:lnSpc>
            </a:pPr>
            <a:r>
              <a:rPr lang="en-US" sz="4000" b="1" dirty="0">
                <a:solidFill>
                  <a:schemeClr val="bg1"/>
                </a:solidFill>
                <a:latin typeface="Calibri" pitchFamily="34" charset="0"/>
                <a:ea typeface="Calibri" pitchFamily="34" charset="-122"/>
                <a:cs typeface="Calibri" pitchFamily="34" charset="-120"/>
              </a:rPr>
              <a:t>Implementation and Analysis of Merge, </a:t>
            </a:r>
            <a:r>
              <a:rPr lang="ar-SA" sz="4000" b="1" dirty="0">
                <a:solidFill>
                  <a:schemeClr val="bg1"/>
                </a:solidFill>
              </a:rPr>
              <a:t>Selection Problem</a:t>
            </a:r>
            <a:r>
              <a:rPr lang="en-US" sz="4000" b="1" dirty="0">
                <a:solidFill>
                  <a:schemeClr val="bg1"/>
                </a:solidFill>
                <a:latin typeface="Calibri" pitchFamily="34" charset="0"/>
                <a:ea typeface="Calibri" pitchFamily="34" charset="-122"/>
                <a:cs typeface="Calibri" pitchFamily="34" charset="-120"/>
              </a:rPr>
              <a:t>,</a:t>
            </a:r>
            <a:endParaRPr lang="en-US" sz="4000" dirty="0">
              <a:solidFill>
                <a:schemeClr val="bg1"/>
              </a:solidFill>
            </a:endParaRPr>
          </a:p>
          <a:p>
            <a:pPr algn="ctr">
              <a:lnSpc>
                <a:spcPct val="115000"/>
              </a:lnSpc>
            </a:pPr>
            <a:r>
              <a:rPr lang="en-US" sz="4000" b="1" dirty="0">
                <a:solidFill>
                  <a:schemeClr val="bg1"/>
                </a:solidFill>
                <a:latin typeface="Calibri" pitchFamily="34" charset="0"/>
                <a:ea typeface="Calibri" pitchFamily="34" charset="-122"/>
                <a:cs typeface="Calibri" pitchFamily="34" charset="-120"/>
              </a:rPr>
              <a:t>and Kruskal's Algorithms in Java</a:t>
            </a:r>
            <a:endParaRPr lang="en-US" sz="4000" dirty="0">
              <a:solidFill>
                <a:schemeClr val="bg1"/>
              </a:solidFill>
            </a:endParaRPr>
          </a:p>
          <a:p>
            <a:pPr marL="0" indent="0" algn="ctr">
              <a:lnSpc>
                <a:spcPct val="110000"/>
              </a:lnSpc>
              <a:buNone/>
            </a:pPr>
            <a:endParaRPr lang="en-US" sz="3800" dirty="0">
              <a:solidFill>
                <a:schemeClr val="bg1"/>
              </a:solidFill>
            </a:endParaRPr>
          </a:p>
        </p:txBody>
      </p:sp>
      <p:sp>
        <p:nvSpPr>
          <p:cNvPr id="6" name="Shape 4"/>
          <p:cNvSpPr/>
          <p:nvPr/>
        </p:nvSpPr>
        <p:spPr>
          <a:xfrm>
            <a:off x="5088634" y="4354504"/>
            <a:ext cx="2011680" cy="45720"/>
          </a:xfrm>
          <a:prstGeom prst="rect">
            <a:avLst/>
          </a:prstGeom>
          <a:solidFill>
            <a:srgbClr val="C1652F"/>
          </a:solidFill>
          <a:ln/>
        </p:spPr>
        <p:txBody>
          <a:bodyPr/>
          <a:lstStyle/>
          <a:p>
            <a:endParaRPr lang="ar-SA"/>
          </a:p>
        </p:txBody>
      </p:sp>
      <p:sp>
        <p:nvSpPr>
          <p:cNvPr id="7" name="Text 5"/>
          <p:cNvSpPr/>
          <p:nvPr/>
        </p:nvSpPr>
        <p:spPr>
          <a:xfrm>
            <a:off x="1034251" y="5199672"/>
            <a:ext cx="10120449" cy="411480"/>
          </a:xfrm>
          <a:prstGeom prst="rect">
            <a:avLst/>
          </a:prstGeom>
          <a:noFill/>
          <a:ln/>
        </p:spPr>
        <p:txBody>
          <a:bodyPr wrap="square" rtlCol="0" anchor="ctr"/>
          <a:lstStyle/>
          <a:p>
            <a:pPr algn="ctr"/>
            <a:r>
              <a:rPr lang="en-US" sz="1600" b="1" dirty="0">
                <a:solidFill>
                  <a:schemeClr val="bg1"/>
                </a:solidFill>
                <a:ea typeface="Calibri" pitchFamily="34" charset="-122"/>
                <a:cs typeface="Calibri" pitchFamily="34" charset="-120"/>
              </a:rPr>
              <a:t>Abdulmalik Rafi Alshammari  -  Faisal Al-</a:t>
            </a:r>
            <a:r>
              <a:rPr lang="en-US" sz="1600" b="1" dirty="0" err="1">
                <a:solidFill>
                  <a:schemeClr val="bg1"/>
                </a:solidFill>
                <a:ea typeface="Calibri" pitchFamily="34" charset="-122"/>
                <a:cs typeface="Calibri" pitchFamily="34" charset="-120"/>
              </a:rPr>
              <a:t>Suhaymi</a:t>
            </a:r>
            <a:r>
              <a:rPr lang="en-US" sz="1600" b="1" dirty="0">
                <a:solidFill>
                  <a:schemeClr val="bg1"/>
                </a:solidFill>
                <a:ea typeface="Calibri" pitchFamily="34" charset="-122"/>
                <a:cs typeface="Calibri" pitchFamily="34" charset="-120"/>
              </a:rPr>
              <a:t>  -  Saeed Bagulidah</a:t>
            </a:r>
            <a:endParaRPr lang="en-US" sz="1600" b="1" dirty="0">
              <a:solidFill>
                <a:schemeClr val="bg1"/>
              </a:solidFill>
            </a:endParaRPr>
          </a:p>
          <a:p>
            <a:pPr marL="0" indent="0" algn="ctr">
              <a:buNone/>
            </a:pPr>
            <a:endParaRPr lang="en-US" sz="1500" dirty="0"/>
          </a:p>
        </p:txBody>
      </p:sp>
      <p:sp>
        <p:nvSpPr>
          <p:cNvPr id="8" name="Text 6"/>
          <p:cNvSpPr/>
          <p:nvPr/>
        </p:nvSpPr>
        <p:spPr>
          <a:xfrm>
            <a:off x="5536854" y="4696416"/>
            <a:ext cx="1115241" cy="411480"/>
          </a:xfrm>
          <a:prstGeom prst="rect">
            <a:avLst/>
          </a:prstGeom>
          <a:noFill/>
          <a:ln/>
        </p:spPr>
        <p:txBody>
          <a:bodyPr wrap="square" rtlCol="0" anchor="ctr"/>
          <a:lstStyle/>
          <a:p>
            <a:r>
              <a:rPr lang="en-US" sz="2000" b="1" dirty="0">
                <a:solidFill>
                  <a:schemeClr val="bg1"/>
                </a:solidFill>
                <a:ea typeface="Calibri" pitchFamily="34" charset="-122"/>
                <a:cs typeface="Calibri" pitchFamily="34" charset="-120"/>
              </a:rPr>
              <a:t>Group 4</a:t>
            </a:r>
            <a:endParaRPr lang="en-US" sz="2000" b="1" dirty="0">
              <a:solidFill>
                <a:schemeClr val="bg1"/>
              </a:solidFill>
            </a:endParaRPr>
          </a:p>
          <a:p>
            <a:pPr marL="0" indent="0">
              <a:buNone/>
            </a:pPr>
            <a:endParaRPr lang="en-US" sz="2000" b="1" dirty="0">
              <a:solidFill>
                <a:schemeClr val="bg1"/>
              </a:solidFill>
            </a:endParaRPr>
          </a:p>
        </p:txBody>
      </p:sp>
      <p:sp>
        <p:nvSpPr>
          <p:cNvPr id="10" name="مربع نص 9">
            <a:extLst>
              <a:ext uri="{FF2B5EF4-FFF2-40B4-BE49-F238E27FC236}">
                <a16:creationId xmlns:a16="http://schemas.microsoft.com/office/drawing/2014/main" id="{26F4B544-9174-DF8F-6E22-4212EDE5B97E}"/>
              </a:ext>
            </a:extLst>
          </p:cNvPr>
          <p:cNvSpPr txBox="1"/>
          <p:nvPr/>
        </p:nvSpPr>
        <p:spPr>
          <a:xfrm>
            <a:off x="3779901" y="5794704"/>
            <a:ext cx="4629150" cy="369332"/>
          </a:xfrm>
          <a:prstGeom prst="rect">
            <a:avLst/>
          </a:prstGeom>
          <a:noFill/>
        </p:spPr>
        <p:txBody>
          <a:bodyPr wrap="square" rtlCol="1">
            <a:spAutoFit/>
          </a:bodyPr>
          <a:lstStyle/>
          <a:p>
            <a:pPr algn="ctr"/>
            <a:r>
              <a:rPr lang="en-US" b="1" dirty="0">
                <a:solidFill>
                  <a:schemeClr val="bg1"/>
                </a:solidFill>
                <a:latin typeface="Calibri" pitchFamily="34" charset="0"/>
                <a:ea typeface="Calibri" pitchFamily="34" charset="-122"/>
                <a:cs typeface="Calibri" pitchFamily="34" charset="-120"/>
              </a:rPr>
              <a:t>Instructor: Muhammad Akhlaq</a:t>
            </a:r>
            <a:endParaRPr lang="ar-SA"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38912"/>
            <a:ext cx="10881360" cy="731520"/>
          </a:xfrm>
          <a:prstGeom prst="rect">
            <a:avLst/>
          </a:prstGeom>
          <a:noFill/>
          <a:ln/>
        </p:spPr>
        <p:txBody>
          <a:bodyPr wrap="square" rtlCol="0" anchor="ctr"/>
          <a:lstStyle/>
          <a:p>
            <a:pPr marL="0" indent="0">
              <a:buNone/>
            </a:pPr>
            <a:r>
              <a:rPr lang="en-US" sz="3000" b="1" dirty="0">
                <a:solidFill>
                  <a:srgbClr val="16243F"/>
                </a:solidFill>
                <a:latin typeface="Cambria" pitchFamily="34" charset="0"/>
                <a:ea typeface="Cambria" pitchFamily="34" charset="-122"/>
                <a:cs typeface="Cambria" pitchFamily="34" charset="-120"/>
              </a:rPr>
              <a:t>Project Overview</a:t>
            </a:r>
            <a:endParaRPr lang="en-US" sz="3000" dirty="0"/>
          </a:p>
        </p:txBody>
      </p:sp>
      <p:sp>
        <p:nvSpPr>
          <p:cNvPr id="3" name="Text 1"/>
          <p:cNvSpPr/>
          <p:nvPr/>
        </p:nvSpPr>
        <p:spPr>
          <a:xfrm>
            <a:off x="640080" y="5989320"/>
            <a:ext cx="6400800" cy="292608"/>
          </a:xfrm>
          <a:prstGeom prst="rect">
            <a:avLst/>
          </a:prstGeom>
          <a:noFill/>
          <a:ln/>
        </p:spPr>
        <p:txBody>
          <a:bodyPr wrap="square" rtlCol="0" anchor="ctr"/>
          <a:lstStyle/>
          <a:p>
            <a:pPr marL="0" indent="0">
              <a:buNone/>
            </a:pPr>
            <a:endParaRPr lang="en-US" sz="1400" dirty="0"/>
          </a:p>
        </p:txBody>
      </p:sp>
      <p:sp>
        <p:nvSpPr>
          <p:cNvPr id="4" name="Text 2"/>
          <p:cNvSpPr/>
          <p:nvPr/>
        </p:nvSpPr>
        <p:spPr>
          <a:xfrm>
            <a:off x="10607040" y="5989320"/>
            <a:ext cx="941832" cy="292608"/>
          </a:xfrm>
          <a:prstGeom prst="rect">
            <a:avLst/>
          </a:prstGeom>
          <a:noFill/>
          <a:ln/>
        </p:spPr>
        <p:txBody>
          <a:bodyPr wrap="square" rtlCol="0" anchor="ctr"/>
          <a:lstStyle/>
          <a:p>
            <a:pPr marL="0" indent="0" algn="r">
              <a:buNone/>
            </a:pPr>
            <a:r>
              <a:rPr lang="en-US" sz="1400" dirty="0">
                <a:solidFill>
                  <a:srgbClr val="6E7480"/>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640080" y="1508760"/>
            <a:ext cx="5760720" cy="4206240"/>
          </a:xfrm>
          <a:prstGeom prst="rect">
            <a:avLst/>
          </a:prstGeom>
          <a:noFill/>
          <a:ln/>
        </p:spPr>
        <p:txBody>
          <a:bodyPr wrap="square" rtlCol="0" anchor="t"/>
          <a:lstStyle/>
          <a:p>
            <a:pPr marL="342900" indent="-342900">
              <a:spcAft>
                <a:spcPts val="1200"/>
              </a:spcAft>
              <a:buSzPct val="100000"/>
              <a:buChar char="•"/>
            </a:pPr>
            <a:r>
              <a:rPr lang="en-US" sz="1700" dirty="0">
                <a:solidFill>
                  <a:srgbClr val="2E3440"/>
                </a:solidFill>
                <a:ea typeface="Calibri" pitchFamily="34" charset="-122"/>
                <a:cs typeface="Calibri" pitchFamily="34" charset="-120"/>
              </a:rPr>
              <a:t>Inefficient algorithms cost time, money and power on large data</a:t>
            </a:r>
            <a:endParaRPr lang="en-US" sz="1700" dirty="0"/>
          </a:p>
          <a:p>
            <a:pPr marL="342900" indent="-342900">
              <a:spcAft>
                <a:spcPts val="1200"/>
              </a:spcAft>
              <a:buSzPct val="100000"/>
              <a:buChar char="•"/>
            </a:pPr>
            <a:r>
              <a:rPr lang="en-US" sz="1700" dirty="0">
                <a:solidFill>
                  <a:srgbClr val="2E3440"/>
                </a:solidFill>
                <a:ea typeface="Calibri" pitchFamily="34" charset="-122"/>
                <a:cs typeface="Calibri" pitchFamily="34" charset="-120"/>
              </a:rPr>
              <a:t>We implemented three core algorithms in one Java program</a:t>
            </a:r>
            <a:endParaRPr lang="en-US" sz="1700" dirty="0"/>
          </a:p>
          <a:p>
            <a:pPr marL="342900" indent="-342900">
              <a:spcAft>
                <a:spcPts val="1200"/>
              </a:spcAft>
              <a:buSzPct val="100000"/>
              <a:buChar char="•"/>
            </a:pPr>
            <a:r>
              <a:rPr lang="en-US" sz="1700" dirty="0">
                <a:solidFill>
                  <a:srgbClr val="2E3440"/>
                </a:solidFill>
                <a:ea typeface="Calibri" pitchFamily="34" charset="-122"/>
                <a:cs typeface="Calibri" pitchFamily="34" charset="-120"/>
              </a:rPr>
              <a:t>Merge: join two sorted sub-arrays without re-sorting</a:t>
            </a:r>
            <a:endParaRPr lang="en-US" sz="1700" dirty="0"/>
          </a:p>
          <a:p>
            <a:pPr marL="342900" indent="-342900">
              <a:spcAft>
                <a:spcPts val="1200"/>
              </a:spcAft>
              <a:buSzPct val="100000"/>
              <a:buChar char="•"/>
            </a:pPr>
            <a:r>
              <a:rPr lang="en-US" sz="1700" dirty="0">
                <a:solidFill>
                  <a:srgbClr val="2E3440"/>
                </a:solidFill>
                <a:ea typeface="Calibri" pitchFamily="34" charset="-122"/>
                <a:cs typeface="Calibri" pitchFamily="34" charset="-120"/>
              </a:rPr>
              <a:t>Select: find the k-th smallest without sorting the array</a:t>
            </a:r>
            <a:endParaRPr lang="en-US" sz="1700" dirty="0"/>
          </a:p>
          <a:p>
            <a:pPr marL="342900" indent="-342900">
              <a:spcAft>
                <a:spcPts val="1200"/>
              </a:spcAft>
              <a:buSzPct val="100000"/>
              <a:buChar char="•"/>
            </a:pPr>
            <a:r>
              <a:rPr lang="en-US" sz="1700" dirty="0">
                <a:solidFill>
                  <a:srgbClr val="2E3440"/>
                </a:solidFill>
                <a:ea typeface="Calibri" pitchFamily="34" charset="-122"/>
                <a:cs typeface="Calibri" pitchFamily="34" charset="-120"/>
              </a:rPr>
              <a:t>Kruskal: connect a network at minimum total cost</a:t>
            </a:r>
            <a:endParaRPr lang="en-US" sz="1700" dirty="0"/>
          </a:p>
        </p:txBody>
      </p:sp>
      <p:sp>
        <p:nvSpPr>
          <p:cNvPr id="6" name="Shape 4"/>
          <p:cNvSpPr/>
          <p:nvPr/>
        </p:nvSpPr>
        <p:spPr>
          <a:xfrm>
            <a:off x="6858000" y="1508760"/>
            <a:ext cx="4690872" cy="3200400"/>
          </a:xfrm>
          <a:prstGeom prst="rect">
            <a:avLst/>
          </a:prstGeom>
          <a:solidFill>
            <a:srgbClr val="1E2C49"/>
          </a:solidFill>
          <a:ln w="12700">
            <a:solidFill>
              <a:srgbClr val="1E2C49"/>
            </a:solidFill>
            <a:prstDash val="solid"/>
          </a:ln>
        </p:spPr>
        <p:txBody>
          <a:bodyPr/>
          <a:lstStyle/>
          <a:p>
            <a:endParaRPr lang="ar-SA"/>
          </a:p>
        </p:txBody>
      </p:sp>
      <p:sp>
        <p:nvSpPr>
          <p:cNvPr id="7" name="Text 5"/>
          <p:cNvSpPr/>
          <p:nvPr/>
        </p:nvSpPr>
        <p:spPr>
          <a:xfrm>
            <a:off x="7086600" y="1645920"/>
            <a:ext cx="4233672" cy="274320"/>
          </a:xfrm>
          <a:prstGeom prst="rect">
            <a:avLst/>
          </a:prstGeom>
          <a:noFill/>
          <a:ln/>
        </p:spPr>
        <p:txBody>
          <a:bodyPr wrap="square" rtlCol="0" anchor="ctr"/>
          <a:lstStyle/>
          <a:p>
            <a:pPr marL="0" indent="0">
              <a:buNone/>
            </a:pPr>
            <a:r>
              <a:rPr lang="en-US" sz="1400" b="1" dirty="0">
                <a:solidFill>
                  <a:srgbClr val="C1652F"/>
                </a:solidFill>
                <a:latin typeface="Calibri" pitchFamily="34" charset="0"/>
                <a:ea typeface="Calibri" pitchFamily="34" charset="-122"/>
                <a:cs typeface="Calibri" pitchFamily="34" charset="-120"/>
              </a:rPr>
              <a:t>ProjectMain - Main Menu</a:t>
            </a:r>
            <a:endParaRPr lang="en-US" sz="1400" dirty="0"/>
          </a:p>
        </p:txBody>
      </p:sp>
      <p:sp>
        <p:nvSpPr>
          <p:cNvPr id="8" name="Text 6"/>
          <p:cNvSpPr/>
          <p:nvPr/>
        </p:nvSpPr>
        <p:spPr>
          <a:xfrm>
            <a:off x="7086600" y="2148840"/>
            <a:ext cx="4233672" cy="2331720"/>
          </a:xfrm>
          <a:prstGeom prst="rect">
            <a:avLst/>
          </a:prstGeom>
          <a:noFill/>
          <a:ln/>
        </p:spPr>
        <p:txBody>
          <a:bodyPr wrap="square" rtlCol="0" anchor="t"/>
          <a:lstStyle/>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1. Algorithm 4: Merging Two</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   Sorted Lists</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2. Algorithm 7: Selection</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   Problem (k-th Smallest)</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3. Algorithm 15: Kruskal's MST</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4. Exit</a:t>
            </a:r>
            <a:endParaRPr lang="en-US" sz="1400" dirty="0"/>
          </a:p>
        </p:txBody>
      </p:sp>
      <p:sp>
        <p:nvSpPr>
          <p:cNvPr id="9" name="Text 7"/>
          <p:cNvSpPr/>
          <p:nvPr/>
        </p:nvSpPr>
        <p:spPr>
          <a:xfrm>
            <a:off x="6858000" y="4983480"/>
            <a:ext cx="4690872" cy="640080"/>
          </a:xfrm>
          <a:prstGeom prst="rect">
            <a:avLst/>
          </a:prstGeom>
          <a:noFill/>
          <a:ln/>
        </p:spPr>
        <p:txBody>
          <a:bodyPr wrap="square" rtlCol="0" anchor="t"/>
          <a:lstStyle/>
          <a:p>
            <a:pPr marL="0" indent="0">
              <a:buNone/>
            </a:pPr>
            <a:r>
              <a:rPr lang="en-US" sz="1400" dirty="0">
                <a:solidFill>
                  <a:srgbClr val="6E7480"/>
                </a:solidFill>
                <a:latin typeface="Calibri" pitchFamily="34" charset="0"/>
                <a:ea typeface="Calibri" pitchFamily="34" charset="-122"/>
                <a:cs typeface="Calibri" pitchFamily="34" charset="-120"/>
              </a:rPr>
              <a:t>One executable file, three algorithms, one interactive CLI menu.</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38912"/>
            <a:ext cx="10881360" cy="731520"/>
          </a:xfrm>
          <a:prstGeom prst="rect">
            <a:avLst/>
          </a:prstGeom>
          <a:noFill/>
          <a:ln/>
        </p:spPr>
        <p:txBody>
          <a:bodyPr wrap="square" rtlCol="0" anchor="ctr"/>
          <a:lstStyle/>
          <a:p>
            <a:pPr marL="0" indent="0">
              <a:buNone/>
            </a:pPr>
            <a:r>
              <a:rPr lang="en-US" sz="3000" b="1" dirty="0">
                <a:solidFill>
                  <a:srgbClr val="16243F"/>
                </a:solidFill>
                <a:latin typeface="Cambria" pitchFamily="34" charset="0"/>
                <a:ea typeface="Cambria" pitchFamily="34" charset="-122"/>
                <a:cs typeface="Cambria" pitchFamily="34" charset="-120"/>
              </a:rPr>
              <a:t>Problem Statement</a:t>
            </a:r>
            <a:endParaRPr lang="en-US" sz="3000" dirty="0"/>
          </a:p>
        </p:txBody>
      </p:sp>
      <p:sp>
        <p:nvSpPr>
          <p:cNvPr id="3" name="Text 1"/>
          <p:cNvSpPr/>
          <p:nvPr/>
        </p:nvSpPr>
        <p:spPr>
          <a:xfrm>
            <a:off x="640080" y="5989320"/>
            <a:ext cx="6400800" cy="292608"/>
          </a:xfrm>
          <a:prstGeom prst="rect">
            <a:avLst/>
          </a:prstGeom>
          <a:noFill/>
          <a:ln/>
        </p:spPr>
        <p:txBody>
          <a:bodyPr wrap="square" rtlCol="0" anchor="ctr"/>
          <a:lstStyle/>
          <a:p>
            <a:pPr marL="0" indent="0">
              <a:buNone/>
            </a:pPr>
            <a:endParaRPr lang="en-US" sz="1400" dirty="0"/>
          </a:p>
        </p:txBody>
      </p:sp>
      <p:sp>
        <p:nvSpPr>
          <p:cNvPr id="4" name="Text 2"/>
          <p:cNvSpPr/>
          <p:nvPr/>
        </p:nvSpPr>
        <p:spPr>
          <a:xfrm>
            <a:off x="10607040" y="5989320"/>
            <a:ext cx="941832" cy="292608"/>
          </a:xfrm>
          <a:prstGeom prst="rect">
            <a:avLst/>
          </a:prstGeom>
          <a:noFill/>
          <a:ln/>
        </p:spPr>
        <p:txBody>
          <a:bodyPr wrap="square" rtlCol="0" anchor="ctr"/>
          <a:lstStyle/>
          <a:p>
            <a:pPr marL="0" indent="0" algn="r">
              <a:buNone/>
            </a:pPr>
            <a:r>
              <a:rPr lang="en-US" sz="1400" dirty="0">
                <a:solidFill>
                  <a:srgbClr val="6E7480"/>
                </a:solidFill>
                <a:latin typeface="Calibri" pitchFamily="34" charset="0"/>
                <a:ea typeface="Calibri" pitchFamily="34" charset="-122"/>
                <a:cs typeface="Calibri" pitchFamily="34" charset="-120"/>
              </a:rPr>
              <a:t>2</a:t>
            </a:r>
            <a:endParaRPr lang="en-US" sz="1400" dirty="0"/>
          </a:p>
        </p:txBody>
      </p:sp>
      <p:sp>
        <p:nvSpPr>
          <p:cNvPr id="5" name="Text 3"/>
          <p:cNvSpPr/>
          <p:nvPr/>
        </p:nvSpPr>
        <p:spPr>
          <a:xfrm>
            <a:off x="640080" y="1417320"/>
            <a:ext cx="10881360" cy="365760"/>
          </a:xfrm>
          <a:prstGeom prst="rect">
            <a:avLst/>
          </a:prstGeom>
          <a:noFill/>
          <a:ln/>
        </p:spPr>
        <p:txBody>
          <a:bodyPr wrap="square" rtlCol="0" anchor="ctr"/>
          <a:lstStyle/>
          <a:p>
            <a:pPr marL="0" indent="0">
              <a:buNone/>
            </a:pPr>
            <a:r>
              <a:rPr lang="en-US" sz="1600" dirty="0">
                <a:solidFill>
                  <a:srgbClr val="6E7480"/>
                </a:solidFill>
                <a:latin typeface="Calibri" pitchFamily="34" charset="0"/>
                <a:ea typeface="Calibri" pitchFamily="34" charset="-122"/>
                <a:cs typeface="Calibri" pitchFamily="34" charset="-120"/>
              </a:rPr>
              <a:t>Three separate computational problems, one unified program.</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057400"/>
          <a:ext cx="10881360" cy="2560320"/>
        </p:xfrm>
        <a:graphic>
          <a:graphicData uri="http://schemas.openxmlformats.org/drawingml/2006/table">
            <a:tbl>
              <a:tblPr/>
              <a:tblGrid>
                <a:gridCol w="301752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64008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Problem</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16243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16243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16243F"/>
                    </a:solidFill>
                  </a:tcPr>
                </a:tc>
                <a:extLst>
                  <a:ext uri="{0D108BD9-81ED-4DB2-BD59-A6C34878D82A}">
                    <a16:rowId xmlns:a16="http://schemas.microsoft.com/office/drawing/2014/main" val="10000"/>
                  </a:ext>
                </a:extLst>
              </a:tr>
              <a:tr h="640080">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Sub-array merging</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Array A, indices p &lt;= q &lt; r,</a:t>
                      </a:r>
                      <a:endParaRPr lang="en-US" sz="1400" dirty="0">
                        <a:latin typeface="Calibri" charset="0"/>
                        <a:ea typeface="Calibri" charset="0"/>
                        <a:cs typeface="Calibri" charset="0"/>
                      </a:endParaRPr>
                    </a:p>
                    <a:p>
                      <a:pPr marL="0" indent="0">
                        <a:buNone/>
                      </a:pPr>
                      <a:r>
                        <a:rPr lang="en-US" sz="1400" dirty="0">
                          <a:solidFill>
                            <a:srgbClr val="2E3440"/>
                          </a:solidFill>
                          <a:latin typeface="Calibri" pitchFamily="34" charset="0"/>
                          <a:ea typeface="Calibri" pitchFamily="34" charset="-122"/>
                          <a:cs typeface="Calibri" pitchFamily="34" charset="-120"/>
                        </a:rPr>
                        <a:t>both halves already sorted</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A[p..r] fully sorted</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Selection (k-th smallest)</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Unsorted array of n integers,</a:t>
                      </a:r>
                      <a:endParaRPr lang="en-US" sz="1400" dirty="0">
                        <a:latin typeface="Calibri" charset="0"/>
                        <a:ea typeface="Calibri" charset="0"/>
                        <a:cs typeface="Calibri" charset="0"/>
                      </a:endParaRPr>
                    </a:p>
                    <a:p>
                      <a:pPr marL="0" indent="0">
                        <a:buNone/>
                      </a:pPr>
                      <a:r>
                        <a:rPr lang="en-US" sz="1400" dirty="0">
                          <a:solidFill>
                            <a:srgbClr val="2E3440"/>
                          </a:solidFill>
                          <a:latin typeface="Calibri" pitchFamily="34" charset="0"/>
                          <a:ea typeface="Calibri" pitchFamily="34" charset="-122"/>
                          <a:cs typeface="Calibri" pitchFamily="34" charset="-120"/>
                        </a:rPr>
                        <a:t>rank k (1 &lt;= k &lt;= n)</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The k-th smallest value</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Minimum spanning tree</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V vertices, E weighted edges</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MST edges + total weight</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p:nvPr/>
        </p:nvSpPr>
        <p:spPr>
          <a:xfrm>
            <a:off x="640080" y="4892040"/>
            <a:ext cx="10881360" cy="457200"/>
          </a:xfrm>
          <a:prstGeom prst="rect">
            <a:avLst/>
          </a:prstGeom>
          <a:noFill/>
          <a:ln/>
        </p:spPr>
        <p:txBody>
          <a:bodyPr wrap="square" rtlCol="0" anchor="ctr"/>
          <a:lstStyle/>
          <a:p>
            <a:pPr marL="0" indent="0">
              <a:buNone/>
            </a:pPr>
            <a:r>
              <a:rPr lang="en-US" sz="1600" dirty="0">
                <a:solidFill>
                  <a:srgbClr val="2E3440"/>
                </a:solidFill>
                <a:latin typeface="Calibri" pitchFamily="34" charset="0"/>
                <a:ea typeface="Calibri" pitchFamily="34" charset="-122"/>
                <a:cs typeface="Calibri" pitchFamily="34" charset="-120"/>
              </a:rPr>
              <a:t>Objective: correct Java implementations of all three, plus an evaluation of their performance.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38912"/>
            <a:ext cx="10881360" cy="731520"/>
          </a:xfrm>
          <a:prstGeom prst="rect">
            <a:avLst/>
          </a:prstGeom>
          <a:noFill/>
          <a:ln/>
        </p:spPr>
        <p:txBody>
          <a:bodyPr wrap="square" rtlCol="0" anchor="ctr"/>
          <a:lstStyle/>
          <a:p>
            <a:pPr marL="0" indent="0">
              <a:buNone/>
            </a:pPr>
            <a:r>
              <a:rPr lang="en-US" sz="3000" b="1" dirty="0">
                <a:solidFill>
                  <a:srgbClr val="16243F"/>
                </a:solidFill>
                <a:latin typeface="Cambria" pitchFamily="34" charset="0"/>
                <a:ea typeface="Cambria" pitchFamily="34" charset="-122"/>
                <a:cs typeface="Cambria" pitchFamily="34" charset="-120"/>
              </a:rPr>
              <a:t>Algorithm 1: Merging Two Sorted Sub-arrays</a:t>
            </a:r>
            <a:endParaRPr lang="en-US" sz="3000" dirty="0"/>
          </a:p>
        </p:txBody>
      </p:sp>
      <p:sp>
        <p:nvSpPr>
          <p:cNvPr id="4" name="Text 2"/>
          <p:cNvSpPr/>
          <p:nvPr/>
        </p:nvSpPr>
        <p:spPr>
          <a:xfrm>
            <a:off x="10607040" y="5989320"/>
            <a:ext cx="941832" cy="292608"/>
          </a:xfrm>
          <a:prstGeom prst="rect">
            <a:avLst/>
          </a:prstGeom>
          <a:noFill/>
          <a:ln/>
        </p:spPr>
        <p:txBody>
          <a:bodyPr wrap="square" rtlCol="0" anchor="ctr"/>
          <a:lstStyle/>
          <a:p>
            <a:pPr marL="0" indent="0" algn="r">
              <a:buNone/>
            </a:pPr>
            <a:r>
              <a:rPr lang="en-US" sz="1400" dirty="0">
                <a:solidFill>
                  <a:srgbClr val="6E7480"/>
                </a:solidFill>
                <a:latin typeface="Calibri" pitchFamily="34" charset="0"/>
                <a:ea typeface="Calibri" pitchFamily="34" charset="-122"/>
                <a:cs typeface="Calibri" pitchFamily="34" charset="-120"/>
              </a:rPr>
              <a:t>3</a:t>
            </a:r>
            <a:endParaRPr lang="en-US" sz="1400" dirty="0"/>
          </a:p>
        </p:txBody>
      </p:sp>
      <p:sp>
        <p:nvSpPr>
          <p:cNvPr id="5" name="Text 3"/>
          <p:cNvSpPr/>
          <p:nvPr/>
        </p:nvSpPr>
        <p:spPr>
          <a:xfrm>
            <a:off x="640080" y="1783080"/>
            <a:ext cx="5760720" cy="4206240"/>
          </a:xfrm>
          <a:prstGeom prst="rect">
            <a:avLst/>
          </a:prstGeom>
          <a:noFill/>
          <a:ln/>
        </p:spPr>
        <p:txBody>
          <a:bodyPr wrap="square" rtlCol="0" anchor="t"/>
          <a:lstStyle/>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Divide-and-conquer: the combine step of merge sort</a:t>
            </a:r>
            <a:endParaRPr lang="en-US" sz="1700" dirty="0"/>
          </a:p>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Copy A[p..q] into L and A[q+1..r] into R</a:t>
            </a:r>
            <a:endParaRPr lang="en-US" sz="1700" dirty="0"/>
          </a:p>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Two pointers walk L and R at the same time</a:t>
            </a:r>
            <a:endParaRPr lang="en-US" sz="1700" dirty="0"/>
          </a:p>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The smaller front element is written back into A</a:t>
            </a:r>
            <a:endParaRPr lang="en-US" sz="1700" dirty="0"/>
          </a:p>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Time Theta(n), auxiliary space Theta(n)</a:t>
            </a:r>
            <a:endParaRPr lang="en-US" sz="1700" dirty="0"/>
          </a:p>
        </p:txBody>
      </p:sp>
      <p:sp>
        <p:nvSpPr>
          <p:cNvPr id="6" name="Shape 4"/>
          <p:cNvSpPr/>
          <p:nvPr/>
        </p:nvSpPr>
        <p:spPr>
          <a:xfrm>
            <a:off x="6858000" y="1508760"/>
            <a:ext cx="4690872" cy="3840480"/>
          </a:xfrm>
          <a:prstGeom prst="rect">
            <a:avLst/>
          </a:prstGeom>
          <a:solidFill>
            <a:srgbClr val="1E2C49"/>
          </a:solidFill>
          <a:ln w="12700">
            <a:solidFill>
              <a:srgbClr val="1E2C49"/>
            </a:solidFill>
            <a:prstDash val="solid"/>
          </a:ln>
        </p:spPr>
        <p:txBody>
          <a:bodyPr/>
          <a:lstStyle/>
          <a:p>
            <a:endParaRPr lang="ar-SA"/>
          </a:p>
        </p:txBody>
      </p:sp>
      <p:sp>
        <p:nvSpPr>
          <p:cNvPr id="7" name="Text 5"/>
          <p:cNvSpPr/>
          <p:nvPr/>
        </p:nvSpPr>
        <p:spPr>
          <a:xfrm>
            <a:off x="7086600" y="1645920"/>
            <a:ext cx="4233672" cy="274320"/>
          </a:xfrm>
          <a:prstGeom prst="rect">
            <a:avLst/>
          </a:prstGeom>
          <a:noFill/>
          <a:ln/>
        </p:spPr>
        <p:txBody>
          <a:bodyPr wrap="square" rtlCol="0" anchor="ctr"/>
          <a:lstStyle/>
          <a:p>
            <a:pPr marL="0" indent="0">
              <a:buNone/>
            </a:pPr>
            <a:r>
              <a:rPr lang="en-US" sz="1400" b="1" dirty="0">
                <a:solidFill>
                  <a:srgbClr val="C1652F"/>
                </a:solidFill>
                <a:latin typeface="Calibri" pitchFamily="34" charset="0"/>
                <a:ea typeface="Calibri" pitchFamily="34" charset="-122"/>
                <a:cs typeface="Calibri" pitchFamily="34" charset="-120"/>
              </a:rPr>
              <a:t>merge(A, p, q, r)</a:t>
            </a:r>
            <a:endParaRPr lang="en-US" sz="1400" dirty="0"/>
          </a:p>
        </p:txBody>
      </p:sp>
      <p:sp>
        <p:nvSpPr>
          <p:cNvPr id="8" name="Text 6"/>
          <p:cNvSpPr/>
          <p:nvPr/>
        </p:nvSpPr>
        <p:spPr>
          <a:xfrm>
            <a:off x="7086600" y="2148840"/>
            <a:ext cx="4233672" cy="2971800"/>
          </a:xfrm>
          <a:prstGeom prst="rect">
            <a:avLst/>
          </a:prstGeom>
          <a:noFill/>
          <a:ln/>
        </p:spPr>
        <p:txBody>
          <a:bodyPr wrap="square" rtlCol="0" anchor="t"/>
          <a:lstStyle/>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L = copyOfRange(A, p, q+1)</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R = copyOfRange(A, q+1, r+1)</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i = 0; j = 0; k = p</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while i &lt; |L| and j &lt; |R|:</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   if L[i] &lt;= R[j]:</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      A[k++] = L[i++]</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   else:</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      A[k++] = R[j++]</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copy rest of L, then rest of 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38912"/>
            <a:ext cx="10881360" cy="731520"/>
          </a:xfrm>
          <a:prstGeom prst="rect">
            <a:avLst/>
          </a:prstGeom>
          <a:noFill/>
          <a:ln/>
        </p:spPr>
        <p:txBody>
          <a:bodyPr wrap="square" rtlCol="0" anchor="ctr"/>
          <a:lstStyle/>
          <a:p>
            <a:pPr marL="0" indent="0">
              <a:buNone/>
            </a:pPr>
            <a:r>
              <a:rPr lang="en-US" sz="3000" b="1" dirty="0">
                <a:solidFill>
                  <a:srgbClr val="16243F"/>
                </a:solidFill>
                <a:latin typeface="Cambria" pitchFamily="34" charset="0"/>
                <a:ea typeface="Cambria" pitchFamily="34" charset="-122"/>
                <a:cs typeface="Cambria" pitchFamily="34" charset="-120"/>
              </a:rPr>
              <a:t>Merge: Worked Example</a:t>
            </a:r>
            <a:endParaRPr lang="en-US" sz="3000" dirty="0"/>
          </a:p>
        </p:txBody>
      </p:sp>
      <p:sp>
        <p:nvSpPr>
          <p:cNvPr id="3" name="Text 1"/>
          <p:cNvSpPr/>
          <p:nvPr/>
        </p:nvSpPr>
        <p:spPr>
          <a:xfrm>
            <a:off x="640080" y="5989320"/>
            <a:ext cx="6400800" cy="292608"/>
          </a:xfrm>
          <a:prstGeom prst="rect">
            <a:avLst/>
          </a:prstGeom>
          <a:noFill/>
          <a:ln/>
        </p:spPr>
        <p:txBody>
          <a:bodyPr wrap="square" rtlCol="0" anchor="ctr"/>
          <a:lstStyle/>
          <a:p>
            <a:pPr marL="0" indent="0">
              <a:buNone/>
            </a:pPr>
            <a:endParaRPr lang="en-US" sz="1400" dirty="0"/>
          </a:p>
        </p:txBody>
      </p:sp>
      <p:sp>
        <p:nvSpPr>
          <p:cNvPr id="4" name="Text 2"/>
          <p:cNvSpPr/>
          <p:nvPr/>
        </p:nvSpPr>
        <p:spPr>
          <a:xfrm>
            <a:off x="10607040" y="5989320"/>
            <a:ext cx="941832" cy="292608"/>
          </a:xfrm>
          <a:prstGeom prst="rect">
            <a:avLst/>
          </a:prstGeom>
          <a:noFill/>
          <a:ln/>
        </p:spPr>
        <p:txBody>
          <a:bodyPr wrap="square" rtlCol="0" anchor="ctr"/>
          <a:lstStyle/>
          <a:p>
            <a:pPr marL="0" indent="0" algn="r">
              <a:buNone/>
            </a:pPr>
            <a:r>
              <a:rPr lang="en-US" sz="1400" dirty="0">
                <a:solidFill>
                  <a:srgbClr val="6E7480"/>
                </a:solidFill>
                <a:latin typeface="Calibri" pitchFamily="34" charset="0"/>
                <a:ea typeface="Calibri" pitchFamily="34" charset="-122"/>
                <a:cs typeface="Calibri" pitchFamily="34" charset="-120"/>
              </a:rPr>
              <a:t>4</a:t>
            </a:r>
            <a:endParaRPr lang="en-US" sz="1400" dirty="0"/>
          </a:p>
        </p:txBody>
      </p:sp>
      <p:sp>
        <p:nvSpPr>
          <p:cNvPr id="5" name="Text 3"/>
          <p:cNvSpPr/>
          <p:nvPr/>
        </p:nvSpPr>
        <p:spPr>
          <a:xfrm>
            <a:off x="655320" y="1564441"/>
            <a:ext cx="10881360" cy="411480"/>
          </a:xfrm>
          <a:prstGeom prst="rect">
            <a:avLst/>
          </a:prstGeom>
          <a:noFill/>
          <a:ln/>
        </p:spPr>
        <p:txBody>
          <a:bodyPr wrap="square" rtlCol="0" anchor="ctr"/>
          <a:lstStyle/>
          <a:p>
            <a:pPr marL="0" indent="0">
              <a:buNone/>
            </a:pPr>
            <a:r>
              <a:rPr lang="en-US" sz="1600" dirty="0">
                <a:solidFill>
                  <a:srgbClr val="16243F"/>
                </a:solidFill>
                <a:latin typeface="Consolas" pitchFamily="34" charset="0"/>
                <a:ea typeface="Consolas" pitchFamily="34" charset="-122"/>
                <a:cs typeface="Consolas" pitchFamily="34" charset="-120"/>
              </a:rPr>
              <a:t>A = [ 2, 5, 8 | 1, 3, 9 ]     p = 0,  q = 2,  r = 5          L = [2, 5, 8],  R = [1, 3, 9]</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3613001782"/>
              </p:ext>
            </p:extLst>
          </p:nvPr>
        </p:nvGraphicFramePr>
        <p:xfrm>
          <a:off x="1280160" y="2277836"/>
          <a:ext cx="9601200" cy="2944368"/>
        </p:xfrm>
        <a:graphic>
          <a:graphicData uri="http://schemas.openxmlformats.org/drawingml/2006/table">
            <a:tbl>
              <a:tblPr/>
              <a:tblGrid>
                <a:gridCol w="146304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420624">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16243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Compare L[i] with R[j]</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16243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Written into A</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16243F"/>
                    </a:solidFill>
                  </a:tcPr>
                </a:tc>
                <a:extLst>
                  <a:ext uri="{0D108BD9-81ED-4DB2-BD59-A6C34878D82A}">
                    <a16:rowId xmlns:a16="http://schemas.microsoft.com/office/drawing/2014/main" val="10000"/>
                  </a:ext>
                </a:extLst>
              </a:tr>
              <a:tr h="420624">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2  vs  1</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2  vs  3</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5  vs  3</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5  vs  9</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8  vs  9</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L is empty, copy the rest of R</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Text 4"/>
          <p:cNvSpPr/>
          <p:nvPr/>
        </p:nvSpPr>
        <p:spPr>
          <a:xfrm>
            <a:off x="1280160" y="5440680"/>
            <a:ext cx="9601200" cy="457200"/>
          </a:xfrm>
          <a:prstGeom prst="rect">
            <a:avLst/>
          </a:prstGeom>
          <a:noFill/>
          <a:ln/>
        </p:spPr>
        <p:txBody>
          <a:bodyPr wrap="square" rtlCol="0" anchor="ctr"/>
          <a:lstStyle/>
          <a:p>
            <a:pPr marL="0" indent="0">
              <a:buNone/>
            </a:pPr>
            <a:r>
              <a:rPr lang="en-US" sz="1700" b="1" dirty="0">
                <a:solidFill>
                  <a:srgbClr val="C1652F"/>
                </a:solidFill>
                <a:latin typeface="Calibri" pitchFamily="34" charset="0"/>
                <a:ea typeface="Calibri" pitchFamily="34" charset="-122"/>
                <a:cs typeface="Calibri" pitchFamily="34" charset="-120"/>
              </a:rPr>
              <a:t>Result:  A = [ 1, 2, 3, 5, 8, 9 ]   -   6 elements, 6 moves, no re-sorting.</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38912"/>
            <a:ext cx="10881360" cy="731520"/>
          </a:xfrm>
          <a:prstGeom prst="rect">
            <a:avLst/>
          </a:prstGeom>
          <a:noFill/>
          <a:ln/>
        </p:spPr>
        <p:txBody>
          <a:bodyPr wrap="square" rtlCol="0" anchor="ctr"/>
          <a:lstStyle/>
          <a:p>
            <a:pPr marL="0" indent="0">
              <a:buNone/>
            </a:pPr>
            <a:r>
              <a:rPr lang="en-US" sz="3000" b="1" dirty="0">
                <a:solidFill>
                  <a:srgbClr val="16243F"/>
                </a:solidFill>
                <a:latin typeface="Cambria" pitchFamily="34" charset="0"/>
                <a:ea typeface="Cambria" pitchFamily="34" charset="-122"/>
                <a:cs typeface="Cambria" pitchFamily="34" charset="-120"/>
              </a:rPr>
              <a:t>Algorithm 2: Selection Problem - k-th Smallest</a:t>
            </a:r>
            <a:endParaRPr lang="en-US" sz="3000" dirty="0"/>
          </a:p>
        </p:txBody>
      </p:sp>
      <p:sp>
        <p:nvSpPr>
          <p:cNvPr id="3" name="Text 1"/>
          <p:cNvSpPr/>
          <p:nvPr/>
        </p:nvSpPr>
        <p:spPr>
          <a:xfrm>
            <a:off x="640080" y="5989320"/>
            <a:ext cx="6400800" cy="292608"/>
          </a:xfrm>
          <a:prstGeom prst="rect">
            <a:avLst/>
          </a:prstGeom>
          <a:noFill/>
          <a:ln/>
        </p:spPr>
        <p:txBody>
          <a:bodyPr wrap="square" rtlCol="0" anchor="ctr"/>
          <a:lstStyle/>
          <a:p>
            <a:pPr marL="0" indent="0">
              <a:buNone/>
            </a:pPr>
            <a:endParaRPr lang="en-US" sz="1400" dirty="0"/>
          </a:p>
        </p:txBody>
      </p:sp>
      <p:sp>
        <p:nvSpPr>
          <p:cNvPr id="4" name="Text 2"/>
          <p:cNvSpPr/>
          <p:nvPr/>
        </p:nvSpPr>
        <p:spPr>
          <a:xfrm>
            <a:off x="10607040" y="5989320"/>
            <a:ext cx="941832" cy="292608"/>
          </a:xfrm>
          <a:prstGeom prst="rect">
            <a:avLst/>
          </a:prstGeom>
          <a:noFill/>
          <a:ln/>
        </p:spPr>
        <p:txBody>
          <a:bodyPr wrap="square" rtlCol="0" anchor="ctr"/>
          <a:lstStyle/>
          <a:p>
            <a:pPr marL="0" indent="0" algn="r">
              <a:buNone/>
            </a:pPr>
            <a:r>
              <a:rPr lang="en-US" sz="1400" dirty="0">
                <a:solidFill>
                  <a:srgbClr val="6E7480"/>
                </a:solidFill>
                <a:latin typeface="Calibri" pitchFamily="34" charset="0"/>
                <a:ea typeface="Calibri" pitchFamily="34" charset="-122"/>
                <a:cs typeface="Calibri" pitchFamily="34" charset="-120"/>
              </a:rPr>
              <a:t>5</a:t>
            </a:r>
            <a:endParaRPr lang="en-US" sz="1400" dirty="0"/>
          </a:p>
        </p:txBody>
      </p:sp>
      <p:sp>
        <p:nvSpPr>
          <p:cNvPr id="5" name="Text 3"/>
          <p:cNvSpPr/>
          <p:nvPr/>
        </p:nvSpPr>
        <p:spPr>
          <a:xfrm>
            <a:off x="640080" y="2137410"/>
            <a:ext cx="5760720" cy="4206240"/>
          </a:xfrm>
          <a:prstGeom prst="rect">
            <a:avLst/>
          </a:prstGeom>
          <a:noFill/>
          <a:ln/>
        </p:spPr>
        <p:txBody>
          <a:bodyPr wrap="square" rtlCol="0" anchor="t"/>
          <a:lstStyle/>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Sorting to read one element costs Theta(n log n)</a:t>
            </a:r>
            <a:endParaRPr lang="en-US" sz="1700" dirty="0"/>
          </a:p>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Order statistics answer the same query in Theta(n)</a:t>
            </a:r>
            <a:endParaRPr lang="en-US" sz="1700" dirty="0"/>
          </a:p>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Split the array into groups of 5 and sort each group</a:t>
            </a:r>
            <a:endParaRPr lang="en-US" sz="1700" dirty="0"/>
          </a:p>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Pivot = median of the group medians (found recursively)</a:t>
            </a:r>
            <a:endParaRPr lang="en-US" sz="1700" dirty="0"/>
          </a:p>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3-way partition into L, E, G; recurse into one part only</a:t>
            </a:r>
            <a:endParaRPr lang="en-US" sz="1700" dirty="0"/>
          </a:p>
        </p:txBody>
      </p:sp>
      <p:sp>
        <p:nvSpPr>
          <p:cNvPr id="6" name="Shape 4"/>
          <p:cNvSpPr/>
          <p:nvPr/>
        </p:nvSpPr>
        <p:spPr>
          <a:xfrm>
            <a:off x="6858000" y="1508760"/>
            <a:ext cx="4690872" cy="3840480"/>
          </a:xfrm>
          <a:prstGeom prst="rect">
            <a:avLst/>
          </a:prstGeom>
          <a:solidFill>
            <a:srgbClr val="1E2C49"/>
          </a:solidFill>
          <a:ln w="12700">
            <a:solidFill>
              <a:srgbClr val="1E2C49"/>
            </a:solidFill>
            <a:prstDash val="solid"/>
          </a:ln>
        </p:spPr>
        <p:txBody>
          <a:bodyPr/>
          <a:lstStyle/>
          <a:p>
            <a:endParaRPr lang="ar-SA"/>
          </a:p>
        </p:txBody>
      </p:sp>
      <p:sp>
        <p:nvSpPr>
          <p:cNvPr id="7" name="Text 5"/>
          <p:cNvSpPr/>
          <p:nvPr/>
        </p:nvSpPr>
        <p:spPr>
          <a:xfrm>
            <a:off x="7086600" y="1645920"/>
            <a:ext cx="4233672" cy="274320"/>
          </a:xfrm>
          <a:prstGeom prst="rect">
            <a:avLst/>
          </a:prstGeom>
          <a:noFill/>
          <a:ln/>
        </p:spPr>
        <p:txBody>
          <a:bodyPr wrap="square" rtlCol="0" anchor="ctr"/>
          <a:lstStyle/>
          <a:p>
            <a:pPr marL="0" indent="0">
              <a:buNone/>
            </a:pPr>
            <a:r>
              <a:rPr lang="en-US" sz="1400" b="1" dirty="0">
                <a:solidFill>
                  <a:srgbClr val="C1652F"/>
                </a:solidFill>
                <a:latin typeface="Calibri" pitchFamily="34" charset="0"/>
                <a:ea typeface="Calibri" pitchFamily="34" charset="-122"/>
                <a:cs typeface="Calibri" pitchFamily="34" charset="-120"/>
              </a:rPr>
              <a:t>select(a, k)</a:t>
            </a:r>
            <a:endParaRPr lang="en-US" sz="1400" dirty="0"/>
          </a:p>
        </p:txBody>
      </p:sp>
      <p:sp>
        <p:nvSpPr>
          <p:cNvPr id="8" name="Text 6"/>
          <p:cNvSpPr/>
          <p:nvPr/>
        </p:nvSpPr>
        <p:spPr>
          <a:xfrm>
            <a:off x="7086600" y="2148840"/>
            <a:ext cx="4233672" cy="2971800"/>
          </a:xfrm>
          <a:prstGeom prst="rect">
            <a:avLst/>
          </a:prstGeom>
          <a:noFill/>
          <a:ln/>
        </p:spPr>
        <p:txBody>
          <a:bodyPr wrap="square" rtlCol="0" anchor="t"/>
          <a:lstStyle/>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if |a| &lt;= 5: sort, return a[k-1]</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medians = median of each group</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pivot = select(medians, mid)</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L = x &lt; pivot</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E = x == pivot</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G = x &gt; pivot</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k &lt;= |L|      -&gt; select(L, k)</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k &lt;= |L|+|E|  -&gt; pivot</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else -&gt; select(G, k-|L|-|E|)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438912"/>
            <a:ext cx="10881360" cy="731520"/>
          </a:xfrm>
          <a:prstGeom prst="rect">
            <a:avLst/>
          </a:prstGeom>
          <a:noFill/>
          <a:ln/>
        </p:spPr>
        <p:txBody>
          <a:bodyPr wrap="square" rtlCol="0" anchor="ctr"/>
          <a:lstStyle/>
          <a:p>
            <a:pPr marL="0" indent="0">
              <a:buNone/>
            </a:pPr>
            <a:r>
              <a:rPr lang="en-US" sz="3000" b="1" dirty="0">
                <a:solidFill>
                  <a:srgbClr val="16243F"/>
                </a:solidFill>
                <a:latin typeface="Cambria" pitchFamily="34" charset="0"/>
                <a:ea typeface="Cambria" pitchFamily="34" charset="-122"/>
                <a:cs typeface="Cambria" pitchFamily="34" charset="-120"/>
              </a:rPr>
              <a:t>Selection: Worked Example</a:t>
            </a:r>
            <a:endParaRPr lang="en-US" sz="3000" dirty="0"/>
          </a:p>
        </p:txBody>
      </p:sp>
      <p:sp>
        <p:nvSpPr>
          <p:cNvPr id="3" name="Text 1"/>
          <p:cNvSpPr/>
          <p:nvPr/>
        </p:nvSpPr>
        <p:spPr>
          <a:xfrm>
            <a:off x="640080" y="5989320"/>
            <a:ext cx="6400800" cy="292608"/>
          </a:xfrm>
          <a:prstGeom prst="rect">
            <a:avLst/>
          </a:prstGeom>
          <a:noFill/>
          <a:ln/>
        </p:spPr>
        <p:txBody>
          <a:bodyPr wrap="square" rtlCol="0" anchor="ctr"/>
          <a:lstStyle/>
          <a:p>
            <a:pPr marL="0" indent="0">
              <a:buNone/>
            </a:pPr>
            <a:endParaRPr lang="en-US" sz="1400" dirty="0"/>
          </a:p>
        </p:txBody>
      </p:sp>
      <p:sp>
        <p:nvSpPr>
          <p:cNvPr id="4" name="Text 2"/>
          <p:cNvSpPr/>
          <p:nvPr/>
        </p:nvSpPr>
        <p:spPr>
          <a:xfrm>
            <a:off x="10607040" y="5989320"/>
            <a:ext cx="941832" cy="292608"/>
          </a:xfrm>
          <a:prstGeom prst="rect">
            <a:avLst/>
          </a:prstGeom>
          <a:noFill/>
          <a:ln/>
        </p:spPr>
        <p:txBody>
          <a:bodyPr wrap="square" rtlCol="0" anchor="ctr"/>
          <a:lstStyle/>
          <a:p>
            <a:pPr marL="0" indent="0" algn="r">
              <a:buNone/>
            </a:pPr>
            <a:r>
              <a:rPr lang="en-US" sz="1400" dirty="0">
                <a:solidFill>
                  <a:srgbClr val="6E7480"/>
                </a:solidFill>
                <a:latin typeface="Calibri" pitchFamily="34" charset="0"/>
                <a:ea typeface="Calibri" pitchFamily="34" charset="-122"/>
                <a:cs typeface="Calibri" pitchFamily="34" charset="-120"/>
              </a:rPr>
              <a:t>6</a:t>
            </a:r>
            <a:endParaRPr lang="en-US" sz="1400" dirty="0"/>
          </a:p>
        </p:txBody>
      </p:sp>
      <p:sp>
        <p:nvSpPr>
          <p:cNvPr id="5" name="Text 3"/>
          <p:cNvSpPr/>
          <p:nvPr/>
        </p:nvSpPr>
        <p:spPr>
          <a:xfrm>
            <a:off x="640080" y="1818677"/>
            <a:ext cx="10881360" cy="411480"/>
          </a:xfrm>
          <a:prstGeom prst="rect">
            <a:avLst/>
          </a:prstGeom>
          <a:noFill/>
          <a:ln/>
        </p:spPr>
        <p:txBody>
          <a:bodyPr wrap="square" rtlCol="0" anchor="ctr"/>
          <a:lstStyle/>
          <a:p>
            <a:pPr marL="0" indent="0">
              <a:buNone/>
            </a:pPr>
            <a:r>
              <a:rPr lang="en-US" sz="1600" dirty="0">
                <a:solidFill>
                  <a:srgbClr val="16243F"/>
                </a:solidFill>
                <a:latin typeface="Consolas" pitchFamily="34" charset="0"/>
                <a:ea typeface="Consolas" pitchFamily="34" charset="-122"/>
                <a:cs typeface="Consolas" pitchFamily="34" charset="-120"/>
              </a:rPr>
              <a:t>a = [ 12, 3, 5, 7, 4, 19, 26, 23, 2, 9, 15 ]     n = 11,  k = 6</a:t>
            </a:r>
            <a:endParaRPr lang="en-US" sz="1600" dirty="0"/>
          </a:p>
        </p:txBody>
      </p:sp>
      <p:sp>
        <p:nvSpPr>
          <p:cNvPr id="6" name="Text 4"/>
          <p:cNvSpPr/>
          <p:nvPr/>
        </p:nvSpPr>
        <p:spPr>
          <a:xfrm>
            <a:off x="655320" y="2784348"/>
            <a:ext cx="7589520" cy="3017520"/>
          </a:xfrm>
          <a:prstGeom prst="rect">
            <a:avLst/>
          </a:prstGeom>
          <a:noFill/>
          <a:ln/>
        </p:spPr>
        <p:txBody>
          <a:bodyPr wrap="square" rtlCol="0" anchor="t"/>
          <a:lstStyle/>
          <a:p>
            <a:pPr marL="342900" indent="-342900">
              <a:spcAft>
                <a:spcPts val="1200"/>
              </a:spcAft>
              <a:buSzPct val="100000"/>
              <a:buChar char="•"/>
            </a:pPr>
            <a:r>
              <a:rPr lang="en-US" sz="1600" dirty="0">
                <a:solidFill>
                  <a:srgbClr val="2E3440"/>
                </a:solidFill>
                <a:latin typeface="Calibri" pitchFamily="34" charset="0"/>
                <a:ea typeface="Calibri" pitchFamily="34" charset="-122"/>
                <a:cs typeface="Calibri" pitchFamily="34" charset="-120"/>
              </a:rPr>
              <a:t>Groups of 5: [12,3,5,7,4] -&gt; 5   [19,26,23,2,9] -&gt; 19   [15] -&gt; 15</a:t>
            </a:r>
            <a:endParaRPr lang="en-US" sz="1600" dirty="0"/>
          </a:p>
          <a:p>
            <a:pPr marL="342900" indent="-342900">
              <a:spcAft>
                <a:spcPts val="1200"/>
              </a:spcAft>
              <a:buSzPct val="100000"/>
              <a:buChar char="•"/>
            </a:pPr>
            <a:r>
              <a:rPr lang="en-US" sz="1600" dirty="0">
                <a:solidFill>
                  <a:srgbClr val="2E3440"/>
                </a:solidFill>
                <a:latin typeface="Calibri" pitchFamily="34" charset="0"/>
                <a:ea typeface="Calibri" pitchFamily="34" charset="-122"/>
                <a:cs typeface="Calibri" pitchFamily="34" charset="-120"/>
              </a:rPr>
              <a:t>Pivot = median of medians {5, 19, 15} = 15</a:t>
            </a:r>
            <a:endParaRPr lang="en-US" sz="1600" dirty="0"/>
          </a:p>
          <a:p>
            <a:pPr marL="342900" indent="-342900">
              <a:spcAft>
                <a:spcPts val="1200"/>
              </a:spcAft>
              <a:buSzPct val="100000"/>
              <a:buChar char="•"/>
            </a:pPr>
            <a:r>
              <a:rPr lang="en-US" sz="1600" dirty="0">
                <a:solidFill>
                  <a:srgbClr val="2E3440"/>
                </a:solidFill>
                <a:latin typeface="Calibri" pitchFamily="34" charset="0"/>
                <a:ea typeface="Calibri" pitchFamily="34" charset="-122"/>
                <a:cs typeface="Calibri" pitchFamily="34" charset="-120"/>
              </a:rPr>
              <a:t>L = {12,3,5,7,4,2,9} (7)   E = {15} (1)   G = {19,26,23} (3)</a:t>
            </a:r>
            <a:endParaRPr lang="en-US" sz="1600" dirty="0"/>
          </a:p>
          <a:p>
            <a:pPr marL="342900" indent="-342900">
              <a:spcAft>
                <a:spcPts val="1200"/>
              </a:spcAft>
              <a:buSzPct val="100000"/>
              <a:buChar char="•"/>
            </a:pPr>
            <a:r>
              <a:rPr lang="en-US" sz="1600" dirty="0">
                <a:solidFill>
                  <a:srgbClr val="2E3440"/>
                </a:solidFill>
                <a:latin typeface="Calibri" pitchFamily="34" charset="0"/>
                <a:ea typeface="Calibri" pitchFamily="34" charset="-122"/>
                <a:cs typeface="Calibri" pitchFamily="34" charset="-120"/>
              </a:rPr>
              <a:t>k = 6 &lt;= |L| = 7, so recurse on L with the same k</a:t>
            </a:r>
            <a:endParaRPr lang="en-US" sz="1600" dirty="0"/>
          </a:p>
          <a:p>
            <a:pPr marL="342900" indent="-342900">
              <a:spcAft>
                <a:spcPts val="1200"/>
              </a:spcAft>
              <a:buSzPct val="100000"/>
              <a:buChar char="•"/>
            </a:pPr>
            <a:r>
              <a:rPr lang="en-US" sz="1600" dirty="0">
                <a:solidFill>
                  <a:srgbClr val="2E3440"/>
                </a:solidFill>
                <a:latin typeface="Calibri" pitchFamily="34" charset="0"/>
                <a:ea typeface="Calibri" pitchFamily="34" charset="-122"/>
                <a:cs typeface="Calibri" pitchFamily="34" charset="-120"/>
              </a:rPr>
              <a:t>In L the pivot becomes 5; recursion ends on a group of 3</a:t>
            </a:r>
            <a:endParaRPr lang="en-US" sz="1600" dirty="0"/>
          </a:p>
        </p:txBody>
      </p:sp>
      <p:sp>
        <p:nvSpPr>
          <p:cNvPr id="7" name="Shape 5"/>
          <p:cNvSpPr/>
          <p:nvPr/>
        </p:nvSpPr>
        <p:spPr>
          <a:xfrm>
            <a:off x="8549640" y="2057400"/>
            <a:ext cx="2999232" cy="2651760"/>
          </a:xfrm>
          <a:prstGeom prst="rect">
            <a:avLst/>
          </a:prstGeom>
          <a:solidFill>
            <a:srgbClr val="FFFFFF"/>
          </a:solidFill>
          <a:ln w="12700">
            <a:solidFill>
              <a:srgbClr val="D9DCE3"/>
            </a:solidFill>
            <a:prstDash val="solid"/>
          </a:ln>
        </p:spPr>
        <p:txBody>
          <a:bodyPr/>
          <a:lstStyle/>
          <a:p>
            <a:endParaRPr lang="ar-SA"/>
          </a:p>
        </p:txBody>
      </p:sp>
      <p:sp>
        <p:nvSpPr>
          <p:cNvPr id="8" name="Text 6"/>
          <p:cNvSpPr/>
          <p:nvPr/>
        </p:nvSpPr>
        <p:spPr>
          <a:xfrm>
            <a:off x="8823960" y="2286000"/>
            <a:ext cx="2450592" cy="868680"/>
          </a:xfrm>
          <a:prstGeom prst="rect">
            <a:avLst/>
          </a:prstGeom>
          <a:noFill/>
          <a:ln/>
        </p:spPr>
        <p:txBody>
          <a:bodyPr wrap="square" rtlCol="0" anchor="ctr"/>
          <a:lstStyle/>
          <a:p>
            <a:pPr marL="0" indent="0">
              <a:buNone/>
            </a:pPr>
            <a:r>
              <a:rPr lang="en-US" sz="4000" b="1" dirty="0">
                <a:solidFill>
                  <a:srgbClr val="C1652F"/>
                </a:solidFill>
                <a:latin typeface="Cambria" pitchFamily="34" charset="0"/>
                <a:ea typeface="Cambria" pitchFamily="34" charset="-122"/>
                <a:cs typeface="Cambria" pitchFamily="34" charset="-120"/>
              </a:rPr>
              <a:t>9</a:t>
            </a:r>
            <a:endParaRPr lang="en-US" sz="4000" dirty="0"/>
          </a:p>
        </p:txBody>
      </p:sp>
      <p:sp>
        <p:nvSpPr>
          <p:cNvPr id="9" name="Text 7"/>
          <p:cNvSpPr/>
          <p:nvPr/>
        </p:nvSpPr>
        <p:spPr>
          <a:xfrm>
            <a:off x="8823960" y="3383280"/>
            <a:ext cx="2450592" cy="1097280"/>
          </a:xfrm>
          <a:prstGeom prst="rect">
            <a:avLst/>
          </a:prstGeom>
          <a:noFill/>
          <a:ln/>
        </p:spPr>
        <p:txBody>
          <a:bodyPr wrap="square" rtlCol="0" anchor="t"/>
          <a:lstStyle/>
          <a:p>
            <a:pPr marL="0" indent="0">
              <a:buNone/>
            </a:pPr>
            <a:r>
              <a:rPr lang="en-US" sz="1500" dirty="0">
                <a:solidFill>
                  <a:srgbClr val="2E3440"/>
                </a:solidFill>
                <a:latin typeface="Calibri" pitchFamily="34" charset="0"/>
                <a:ea typeface="Calibri" pitchFamily="34" charset="-122"/>
                <a:cs typeface="Calibri" pitchFamily="34" charset="-120"/>
              </a:rPr>
              <a:t>The 6th smallest element. Sorted order: 2, 3, 4, 5, 7, 9, 12, 15, 19, 23, 26.</a:t>
            </a:r>
            <a:endParaRPr lang="en-US" sz="1500" dirty="0"/>
          </a:p>
        </p:txBody>
      </p:sp>
      <p:sp>
        <p:nvSpPr>
          <p:cNvPr id="10" name="Text 8"/>
          <p:cNvSpPr/>
          <p:nvPr/>
        </p:nvSpPr>
        <p:spPr>
          <a:xfrm>
            <a:off x="655320" y="5390388"/>
            <a:ext cx="10881360" cy="411480"/>
          </a:xfrm>
          <a:prstGeom prst="rect">
            <a:avLst/>
          </a:prstGeom>
          <a:noFill/>
          <a:ln/>
        </p:spPr>
        <p:txBody>
          <a:bodyPr wrap="square" rtlCol="0" anchor="ctr"/>
          <a:lstStyle/>
          <a:p>
            <a:pPr marL="0" indent="0">
              <a:buNone/>
            </a:pPr>
            <a:r>
              <a:rPr lang="en-US" sz="1600" dirty="0">
                <a:solidFill>
                  <a:srgbClr val="6E7480"/>
                </a:solidFill>
                <a:latin typeface="Calibri" pitchFamily="34" charset="0"/>
                <a:ea typeface="Calibri" pitchFamily="34" charset="-122"/>
                <a:cs typeface="Calibri" pitchFamily="34" charset="-120"/>
              </a:rPr>
              <a:t>The array is never fully sorted - each round throws away a constant fraction of the elements.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38912"/>
            <a:ext cx="10881360" cy="731520"/>
          </a:xfrm>
          <a:prstGeom prst="rect">
            <a:avLst/>
          </a:prstGeom>
          <a:noFill/>
          <a:ln/>
        </p:spPr>
        <p:txBody>
          <a:bodyPr wrap="square" rtlCol="0" anchor="ctr"/>
          <a:lstStyle/>
          <a:p>
            <a:pPr marL="0" indent="0">
              <a:buNone/>
            </a:pPr>
            <a:r>
              <a:rPr lang="en-US" sz="3000" b="1" dirty="0">
                <a:solidFill>
                  <a:srgbClr val="16243F"/>
                </a:solidFill>
                <a:latin typeface="Cambria" pitchFamily="34" charset="0"/>
                <a:ea typeface="Cambria" pitchFamily="34" charset="-122"/>
                <a:cs typeface="Cambria" pitchFamily="34" charset="-120"/>
              </a:rPr>
              <a:t>Algorithm 3: Kruskal's Minimum Spanning Tree</a:t>
            </a:r>
            <a:endParaRPr lang="en-US" sz="3000" dirty="0"/>
          </a:p>
        </p:txBody>
      </p:sp>
      <p:sp>
        <p:nvSpPr>
          <p:cNvPr id="4" name="Text 2"/>
          <p:cNvSpPr/>
          <p:nvPr/>
        </p:nvSpPr>
        <p:spPr>
          <a:xfrm>
            <a:off x="10607040" y="5989320"/>
            <a:ext cx="941832" cy="292608"/>
          </a:xfrm>
          <a:prstGeom prst="rect">
            <a:avLst/>
          </a:prstGeom>
          <a:noFill/>
          <a:ln/>
        </p:spPr>
        <p:txBody>
          <a:bodyPr wrap="square" rtlCol="0" anchor="ctr"/>
          <a:lstStyle/>
          <a:p>
            <a:pPr marL="0" indent="0" algn="r">
              <a:buNone/>
            </a:pPr>
            <a:r>
              <a:rPr lang="en-US" sz="1400" dirty="0">
                <a:solidFill>
                  <a:srgbClr val="6E7480"/>
                </a:solidFill>
                <a:latin typeface="Calibri" pitchFamily="34" charset="0"/>
                <a:ea typeface="Calibri" pitchFamily="34" charset="-122"/>
                <a:cs typeface="Calibri" pitchFamily="34" charset="-120"/>
              </a:rPr>
              <a:t>7</a:t>
            </a:r>
            <a:endParaRPr lang="en-US" sz="1400" dirty="0"/>
          </a:p>
        </p:txBody>
      </p:sp>
      <p:sp>
        <p:nvSpPr>
          <p:cNvPr id="5" name="Text 3"/>
          <p:cNvSpPr/>
          <p:nvPr/>
        </p:nvSpPr>
        <p:spPr>
          <a:xfrm>
            <a:off x="640080" y="1783080"/>
            <a:ext cx="5760720" cy="4206240"/>
          </a:xfrm>
          <a:prstGeom prst="rect">
            <a:avLst/>
          </a:prstGeom>
          <a:noFill/>
          <a:ln/>
        </p:spPr>
        <p:txBody>
          <a:bodyPr wrap="square" rtlCol="0" anchor="t"/>
          <a:lstStyle/>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Greedy strategy over a weighted, undirected graph</a:t>
            </a:r>
            <a:endParaRPr lang="en-US" sz="1700" dirty="0"/>
          </a:p>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Sort every edge in non-decreasing order of weight</a:t>
            </a:r>
            <a:endParaRPr lang="en-US" sz="1700" dirty="0"/>
          </a:p>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Accept an edge only if its ends are in different components</a:t>
            </a:r>
            <a:endParaRPr lang="en-US" sz="1700" dirty="0"/>
          </a:p>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Disjoint-Set Union with path compression detects cycles</a:t>
            </a:r>
            <a:endParaRPr lang="en-US" sz="1700" dirty="0"/>
          </a:p>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Stop after V-1 edges: Theta(E log E), dominated by the sort</a:t>
            </a:r>
            <a:endParaRPr lang="en-US" sz="1700" dirty="0"/>
          </a:p>
        </p:txBody>
      </p:sp>
      <p:sp>
        <p:nvSpPr>
          <p:cNvPr id="6" name="Shape 4"/>
          <p:cNvSpPr/>
          <p:nvPr/>
        </p:nvSpPr>
        <p:spPr>
          <a:xfrm>
            <a:off x="6858000" y="1508760"/>
            <a:ext cx="4690872" cy="3840480"/>
          </a:xfrm>
          <a:prstGeom prst="rect">
            <a:avLst/>
          </a:prstGeom>
          <a:solidFill>
            <a:srgbClr val="1E2C49"/>
          </a:solidFill>
          <a:ln w="12700">
            <a:solidFill>
              <a:srgbClr val="1E2C49"/>
            </a:solidFill>
            <a:prstDash val="solid"/>
          </a:ln>
        </p:spPr>
        <p:txBody>
          <a:bodyPr/>
          <a:lstStyle/>
          <a:p>
            <a:endParaRPr lang="ar-SA"/>
          </a:p>
        </p:txBody>
      </p:sp>
      <p:sp>
        <p:nvSpPr>
          <p:cNvPr id="7" name="Text 5"/>
          <p:cNvSpPr/>
          <p:nvPr/>
        </p:nvSpPr>
        <p:spPr>
          <a:xfrm>
            <a:off x="7086600" y="1645920"/>
            <a:ext cx="4233672" cy="274320"/>
          </a:xfrm>
          <a:prstGeom prst="rect">
            <a:avLst/>
          </a:prstGeom>
          <a:noFill/>
          <a:ln/>
        </p:spPr>
        <p:txBody>
          <a:bodyPr wrap="square" rtlCol="0" anchor="ctr"/>
          <a:lstStyle/>
          <a:p>
            <a:pPr marL="0" indent="0">
              <a:buNone/>
            </a:pPr>
            <a:r>
              <a:rPr lang="en-US" sz="1400" b="1" dirty="0">
                <a:solidFill>
                  <a:srgbClr val="C1652F"/>
                </a:solidFill>
                <a:latin typeface="Calibri" pitchFamily="34" charset="0"/>
                <a:ea typeface="Calibri" pitchFamily="34" charset="-122"/>
                <a:cs typeface="Calibri" pitchFamily="34" charset="-120"/>
              </a:rPr>
              <a:t>runKruskal(sc)</a:t>
            </a:r>
            <a:endParaRPr lang="en-US" sz="1400" dirty="0"/>
          </a:p>
        </p:txBody>
      </p:sp>
      <p:sp>
        <p:nvSpPr>
          <p:cNvPr id="8" name="Text 6"/>
          <p:cNvSpPr/>
          <p:nvPr/>
        </p:nvSpPr>
        <p:spPr>
          <a:xfrm>
            <a:off x="7086600" y="2148840"/>
            <a:ext cx="4233672" cy="2971800"/>
          </a:xfrm>
          <a:prstGeom prst="rect">
            <a:avLst/>
          </a:prstGeom>
          <a:noFill/>
          <a:ln/>
        </p:spPr>
        <p:txBody>
          <a:bodyPr wrap="square" rtlCol="0" anchor="t"/>
          <a:lstStyle/>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Collections.sort(edges)</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for i in 1..V: parent[i] = i</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for e in edges:</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   a = find(parent, e.src)</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   b = find(parent, e.dest)</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   if a != b:</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      add e; parent[a] = b</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      total += e.weight</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      if ++count == V-1: break</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438912"/>
            <a:ext cx="10881360" cy="731520"/>
          </a:xfrm>
          <a:prstGeom prst="rect">
            <a:avLst/>
          </a:prstGeom>
          <a:noFill/>
          <a:ln/>
        </p:spPr>
        <p:txBody>
          <a:bodyPr wrap="square" rtlCol="0" anchor="ctr"/>
          <a:lstStyle/>
          <a:p>
            <a:pPr marL="0" indent="0">
              <a:buNone/>
            </a:pPr>
            <a:r>
              <a:rPr lang="en-US" sz="3000" b="1" dirty="0">
                <a:solidFill>
                  <a:srgbClr val="16243F"/>
                </a:solidFill>
                <a:latin typeface="Cambria" pitchFamily="34" charset="0"/>
                <a:ea typeface="Cambria" pitchFamily="34" charset="-122"/>
                <a:cs typeface="Cambria" pitchFamily="34" charset="-120"/>
              </a:rPr>
              <a:t>Kruskal: Worked Example</a:t>
            </a:r>
            <a:endParaRPr lang="en-US" sz="3000" dirty="0"/>
          </a:p>
        </p:txBody>
      </p:sp>
      <p:sp>
        <p:nvSpPr>
          <p:cNvPr id="4" name="Text 2"/>
          <p:cNvSpPr/>
          <p:nvPr/>
        </p:nvSpPr>
        <p:spPr>
          <a:xfrm>
            <a:off x="10607040" y="5989320"/>
            <a:ext cx="941832" cy="292608"/>
          </a:xfrm>
          <a:prstGeom prst="rect">
            <a:avLst/>
          </a:prstGeom>
          <a:noFill/>
          <a:ln/>
        </p:spPr>
        <p:txBody>
          <a:bodyPr wrap="square" rtlCol="0" anchor="ctr"/>
          <a:lstStyle/>
          <a:p>
            <a:pPr marL="0" indent="0" algn="r">
              <a:buNone/>
            </a:pPr>
            <a:r>
              <a:rPr lang="en-US" sz="1400" dirty="0">
                <a:solidFill>
                  <a:srgbClr val="6E7480"/>
                </a:solidFill>
                <a:latin typeface="Calibri" pitchFamily="34" charset="0"/>
                <a:ea typeface="Calibri" pitchFamily="34" charset="-122"/>
                <a:cs typeface="Calibri" pitchFamily="34" charset="-120"/>
              </a:rPr>
              <a:t>8</a:t>
            </a:r>
            <a:endParaRPr lang="en-US" sz="1400" dirty="0"/>
          </a:p>
        </p:txBody>
      </p:sp>
      <p:sp>
        <p:nvSpPr>
          <p:cNvPr id="5" name="Text 3"/>
          <p:cNvSpPr/>
          <p:nvPr/>
        </p:nvSpPr>
        <p:spPr>
          <a:xfrm>
            <a:off x="655320" y="1559379"/>
            <a:ext cx="10881360" cy="411480"/>
          </a:xfrm>
          <a:prstGeom prst="rect">
            <a:avLst/>
          </a:prstGeom>
          <a:noFill/>
          <a:ln/>
        </p:spPr>
        <p:txBody>
          <a:bodyPr wrap="square" rtlCol="0" anchor="ctr"/>
          <a:lstStyle/>
          <a:p>
            <a:pPr marL="0" indent="0">
              <a:buNone/>
            </a:pPr>
            <a:r>
              <a:rPr lang="en-US" sz="1500" dirty="0">
                <a:solidFill>
                  <a:srgbClr val="16243F"/>
                </a:solidFill>
                <a:latin typeface="Consolas" pitchFamily="34" charset="0"/>
                <a:ea typeface="Consolas" pitchFamily="34" charset="-122"/>
                <a:cs typeface="Consolas" pitchFamily="34" charset="-120"/>
              </a:rPr>
              <a:t>V = 5,  E = 7      edges (src, dest, weight): (2,3,1) (1,2,2) (1,3,3) (2,4,4) (3,4,5) (3,5,6) (4,5,7)</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517064417"/>
              </p:ext>
            </p:extLst>
          </p:nvPr>
        </p:nvGraphicFramePr>
        <p:xfrm>
          <a:off x="640080" y="2176272"/>
          <a:ext cx="7680960" cy="2944368"/>
        </p:xfrm>
        <a:graphic>
          <a:graphicData uri="http://schemas.openxmlformats.org/drawingml/2006/table">
            <a:tbl>
              <a:tblPr/>
              <a:tblGrid>
                <a:gridCol w="16459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420624">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Edge</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16243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Weight</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16243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Decision</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16243F"/>
                    </a:solidFill>
                  </a:tcPr>
                </a:tc>
                <a:extLst>
                  <a:ext uri="{0D108BD9-81ED-4DB2-BD59-A6C34878D82A}">
                    <a16:rowId xmlns:a16="http://schemas.microsoft.com/office/drawing/2014/main" val="10000"/>
                  </a:ext>
                </a:extLst>
              </a:tr>
              <a:tr h="420624">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2 - 3</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Add - different components</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1 - 2</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Add - different components</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1 - 3</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Skip - would close a cycle</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2 - 4</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Add - different components</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3 - 4</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Skip - would close a cycle</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3 - 5</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Add - 4th edge, V-1 reached, stop</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hape 4"/>
          <p:cNvSpPr/>
          <p:nvPr/>
        </p:nvSpPr>
        <p:spPr>
          <a:xfrm>
            <a:off x="8686800" y="2176272"/>
            <a:ext cx="2862072" cy="2651760"/>
          </a:xfrm>
          <a:prstGeom prst="rect">
            <a:avLst/>
          </a:prstGeom>
          <a:solidFill>
            <a:srgbClr val="FFFFFF"/>
          </a:solidFill>
          <a:ln w="12700">
            <a:solidFill>
              <a:srgbClr val="D9DCE3"/>
            </a:solidFill>
            <a:prstDash val="solid"/>
          </a:ln>
        </p:spPr>
        <p:txBody>
          <a:bodyPr/>
          <a:lstStyle/>
          <a:p>
            <a:endParaRPr lang="ar-SA"/>
          </a:p>
        </p:txBody>
      </p:sp>
      <p:sp>
        <p:nvSpPr>
          <p:cNvPr id="8" name="Text 5"/>
          <p:cNvSpPr/>
          <p:nvPr/>
        </p:nvSpPr>
        <p:spPr>
          <a:xfrm>
            <a:off x="8961120" y="2286000"/>
            <a:ext cx="2313432" cy="868680"/>
          </a:xfrm>
          <a:prstGeom prst="rect">
            <a:avLst/>
          </a:prstGeom>
          <a:noFill/>
          <a:ln/>
        </p:spPr>
        <p:txBody>
          <a:bodyPr wrap="square" rtlCol="0" anchor="ctr"/>
          <a:lstStyle/>
          <a:p>
            <a:pPr marL="0" indent="0">
              <a:buNone/>
            </a:pPr>
            <a:r>
              <a:rPr lang="en-US" sz="4000" b="1" dirty="0">
                <a:solidFill>
                  <a:srgbClr val="C1652F"/>
                </a:solidFill>
                <a:latin typeface="Cambria" pitchFamily="34" charset="0"/>
                <a:ea typeface="Cambria" pitchFamily="34" charset="-122"/>
                <a:cs typeface="Cambria" pitchFamily="34" charset="-120"/>
              </a:rPr>
              <a:t>13</a:t>
            </a:r>
            <a:endParaRPr lang="en-US" sz="4000" dirty="0"/>
          </a:p>
        </p:txBody>
      </p:sp>
      <p:sp>
        <p:nvSpPr>
          <p:cNvPr id="9" name="Text 6"/>
          <p:cNvSpPr/>
          <p:nvPr/>
        </p:nvSpPr>
        <p:spPr>
          <a:xfrm>
            <a:off x="8961120" y="3383280"/>
            <a:ext cx="2313432" cy="1097280"/>
          </a:xfrm>
          <a:prstGeom prst="rect">
            <a:avLst/>
          </a:prstGeom>
          <a:noFill/>
          <a:ln/>
        </p:spPr>
        <p:txBody>
          <a:bodyPr wrap="square" rtlCol="0" anchor="t"/>
          <a:lstStyle/>
          <a:p>
            <a:pPr marL="0" indent="0">
              <a:buNone/>
            </a:pPr>
            <a:r>
              <a:rPr lang="en-US" sz="1500" dirty="0">
                <a:solidFill>
                  <a:srgbClr val="2E3440"/>
                </a:solidFill>
                <a:latin typeface="Calibri" pitchFamily="34" charset="0"/>
                <a:ea typeface="Calibri" pitchFamily="34" charset="-122"/>
                <a:cs typeface="Calibri" pitchFamily="34" charset="-120"/>
              </a:rPr>
              <a:t>Total MST weight. Four edges connect all five vertices at the lowest possible cost.</a:t>
            </a:r>
            <a:endParaRPr lang="en-US" sz="1500" dirty="0"/>
          </a:p>
        </p:txBody>
      </p:sp>
      <p:sp>
        <p:nvSpPr>
          <p:cNvPr id="6" name="Text 7"/>
          <p:cNvSpPr/>
          <p:nvPr/>
        </p:nvSpPr>
        <p:spPr>
          <a:xfrm>
            <a:off x="640080" y="5532120"/>
            <a:ext cx="7680960" cy="457200"/>
          </a:xfrm>
          <a:prstGeom prst="rect">
            <a:avLst/>
          </a:prstGeom>
          <a:noFill/>
          <a:ln/>
        </p:spPr>
        <p:txBody>
          <a:bodyPr wrap="square" rtlCol="0" anchor="ctr"/>
          <a:lstStyle/>
          <a:p>
            <a:pPr marL="0" indent="0">
              <a:buNone/>
            </a:pPr>
            <a:r>
              <a:rPr lang="en-US" sz="1700" b="1" dirty="0">
                <a:solidFill>
                  <a:srgbClr val="C1652F"/>
                </a:solidFill>
                <a:latin typeface="Calibri" pitchFamily="34" charset="0"/>
                <a:ea typeface="Calibri" pitchFamily="34" charset="-122"/>
                <a:cs typeface="Calibri" pitchFamily="34" charset="-120"/>
              </a:rPr>
              <a:t>MST edges: (2-3), (1-2), (2-4), (3-5)</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438912"/>
            <a:ext cx="10881360" cy="731520"/>
          </a:xfrm>
          <a:prstGeom prst="rect">
            <a:avLst/>
          </a:prstGeom>
          <a:noFill/>
          <a:ln/>
        </p:spPr>
        <p:txBody>
          <a:bodyPr wrap="square" rtlCol="0" anchor="ctr"/>
          <a:lstStyle/>
          <a:p>
            <a:pPr marL="0" indent="0">
              <a:buNone/>
            </a:pPr>
            <a:r>
              <a:rPr lang="en-US" sz="3000" b="1" dirty="0">
                <a:solidFill>
                  <a:srgbClr val="16243F"/>
                </a:solidFill>
                <a:latin typeface="Cambria" pitchFamily="34" charset="0"/>
                <a:ea typeface="Cambria" pitchFamily="34" charset="-122"/>
                <a:cs typeface="Cambria" pitchFamily="34" charset="-120"/>
              </a:rPr>
              <a:t>Complexity Analysis</a:t>
            </a:r>
            <a:endParaRPr lang="en-US" sz="3000" dirty="0"/>
          </a:p>
        </p:txBody>
      </p:sp>
      <p:sp>
        <p:nvSpPr>
          <p:cNvPr id="4" name="Text 2"/>
          <p:cNvSpPr/>
          <p:nvPr/>
        </p:nvSpPr>
        <p:spPr>
          <a:xfrm>
            <a:off x="10607040" y="5989320"/>
            <a:ext cx="941832" cy="292608"/>
          </a:xfrm>
          <a:prstGeom prst="rect">
            <a:avLst/>
          </a:prstGeom>
          <a:noFill/>
          <a:ln/>
        </p:spPr>
        <p:txBody>
          <a:bodyPr wrap="square" rtlCol="0" anchor="ctr"/>
          <a:lstStyle/>
          <a:p>
            <a:pPr marL="0" indent="0" algn="r">
              <a:buNone/>
            </a:pPr>
            <a:r>
              <a:rPr lang="en-US" sz="1400" dirty="0">
                <a:solidFill>
                  <a:srgbClr val="6E7480"/>
                </a:solidFill>
                <a:latin typeface="Calibri" pitchFamily="34" charset="0"/>
                <a:ea typeface="Calibri" pitchFamily="34" charset="-122"/>
                <a:cs typeface="Calibri" pitchFamily="34" charset="-120"/>
              </a:rPr>
              <a:t>9</a:t>
            </a:r>
            <a:endParaRPr lang="en-US" sz="1400" dirty="0"/>
          </a:p>
        </p:txBody>
      </p:sp>
      <mc:AlternateContent xmlns:mc="http://schemas.openxmlformats.org/markup-compatibility/2006">
        <mc:Choice xmlns:a14="http://schemas.microsoft.com/office/drawing/2010/main" Requires="a14">
          <p:graphicFrame>
            <p:nvGraphicFramePr>
              <p:cNvPr id="11" name="Table 0"/>
              <p:cNvGraphicFramePr>
                <a:graphicFrameLocks noGrp="1"/>
              </p:cNvGraphicFramePr>
              <p:nvPr>
                <p:extLst>
                  <p:ext uri="{D42A27DB-BD31-4B8C-83A1-F6EECF244321}">
                    <p14:modId xmlns:p14="http://schemas.microsoft.com/office/powerpoint/2010/main" val="4034559041"/>
                  </p:ext>
                </p:extLst>
              </p:nvPr>
            </p:nvGraphicFramePr>
            <p:xfrm>
              <a:off x="535709" y="1481327"/>
              <a:ext cx="10985731" cy="4088200"/>
            </p:xfrm>
            <a:graphic>
              <a:graphicData uri="http://schemas.openxmlformats.org/drawingml/2006/table">
                <a:tbl>
                  <a:tblPr/>
                  <a:tblGrid>
                    <a:gridCol w="3969634">
                      <a:extLst>
                        <a:ext uri="{9D8B030D-6E8A-4147-A177-3AD203B41FA5}">
                          <a16:colId xmlns:a16="http://schemas.microsoft.com/office/drawing/2014/main" val="20000"/>
                        </a:ext>
                      </a:extLst>
                    </a:gridCol>
                    <a:gridCol w="4061951">
                      <a:extLst>
                        <a:ext uri="{9D8B030D-6E8A-4147-A177-3AD203B41FA5}">
                          <a16:colId xmlns:a16="http://schemas.microsoft.com/office/drawing/2014/main" val="20001"/>
                        </a:ext>
                      </a:extLst>
                    </a:gridCol>
                    <a:gridCol w="2954146">
                      <a:extLst>
                        <a:ext uri="{9D8B030D-6E8A-4147-A177-3AD203B41FA5}">
                          <a16:colId xmlns:a16="http://schemas.microsoft.com/office/drawing/2014/main" val="20002"/>
                        </a:ext>
                      </a:extLst>
                    </a:gridCol>
                  </a:tblGrid>
                  <a:tr h="102205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Algorithm</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16243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Time (best / average / worst)</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16243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Space</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16243F"/>
                        </a:solidFill>
                      </a:tcPr>
                    </a:tc>
                    <a:extLst>
                      <a:ext uri="{0D108BD9-81ED-4DB2-BD59-A6C34878D82A}">
                        <a16:rowId xmlns:a16="http://schemas.microsoft.com/office/drawing/2014/main" val="10000"/>
                      </a:ext>
                    </a:extLst>
                  </a:tr>
                  <a:tr h="1022050">
                    <a:tc>
                      <a:txBody>
                        <a:bodyPr/>
                        <a:lstStyle/>
                        <a:p>
                          <a:pPr marL="0" indent="0">
                            <a:buNone/>
                          </a:pPr>
                          <a:r>
                            <a:rPr lang="ar-SA" sz="1600" dirty="0"/>
                            <a:t>Merging Two Sorted Lists</a:t>
                          </a:r>
                          <a:endParaRPr lang="en-US" sz="16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lgn="l">
                            <a:buNone/>
                          </a:pPr>
                          <a14:m>
                            <m:oMath xmlns:m="http://schemas.openxmlformats.org/officeDocument/2006/math">
                              <m:r>
                                <m:rPr>
                                  <m:sty m:val="p"/>
                                </m:rPr>
                                <a:rPr lang="ar-SA" sz="1800" kern="1200" smtClean="0">
                                  <a:solidFill>
                                    <a:schemeClr val="tx1"/>
                                  </a:solidFill>
                                  <a:latin typeface="Cambria Math" panose="02040503050406030204" pitchFamily="18" charset="0"/>
                                  <a:ea typeface="+mn-ea"/>
                                  <a:cs typeface="+mn-cs"/>
                                </a:rPr>
                                <m:t>Θ</m:t>
                              </m:r>
                              <m:d>
                                <m:dPr>
                                  <m:ctrlPr>
                                    <a:rPr lang="ar-SA" sz="1800" i="1" kern="1200">
                                      <a:solidFill>
                                        <a:schemeClr val="tx1"/>
                                      </a:solidFill>
                                      <a:latin typeface="Cambria Math" panose="02040503050406030204" pitchFamily="18" charset="0"/>
                                      <a:ea typeface="+mn-ea"/>
                                      <a:cs typeface="+mn-cs"/>
                                    </a:rPr>
                                  </m:ctrlPr>
                                </m:dPr>
                                <m:e>
                                  <m:r>
                                    <a:rPr lang="ar-SA" sz="1800" i="1" kern="1200">
                                      <a:solidFill>
                                        <a:schemeClr val="tx1"/>
                                      </a:solidFill>
                                      <a:latin typeface="Cambria Math" panose="02040503050406030204" pitchFamily="18" charset="0"/>
                                      <a:ea typeface="+mn-ea"/>
                                      <a:cs typeface="+mn-cs"/>
                                    </a:rPr>
                                    <m:t>𝑛</m:t>
                                  </m:r>
                                </m:e>
                              </m:d>
                            </m:oMath>
                          </a14:m>
                          <a:r>
                            <a:rPr lang="en-US" sz="1400" dirty="0">
                              <a:solidFill>
                                <a:srgbClr val="2E3440"/>
                              </a:solidFill>
                              <a:latin typeface="Calibri" pitchFamily="34" charset="0"/>
                              <a:ea typeface="Calibri" pitchFamily="34" charset="-122"/>
                              <a:cs typeface="Calibri" pitchFamily="34" charset="-120"/>
                            </a:rPr>
                            <a:t> </a:t>
                          </a:r>
                          <a:r>
                            <a:rPr lang="en-US" sz="1600" dirty="0">
                              <a:solidFill>
                                <a:srgbClr val="2E3440"/>
                              </a:solidFill>
                              <a:latin typeface="Calibri" pitchFamily="34" charset="0"/>
                              <a:ea typeface="Calibri" pitchFamily="34" charset="-122"/>
                              <a:cs typeface="Calibri" pitchFamily="34" charset="-120"/>
                            </a:rPr>
                            <a:t>in all three cases</a:t>
                          </a:r>
                          <a:endParaRPr lang="en-US" sz="16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lgn="l">
                            <a:buNone/>
                          </a:pPr>
                          <a14:m>
                            <m:oMath xmlns:m="http://schemas.openxmlformats.org/officeDocument/2006/math">
                              <m:r>
                                <m:rPr>
                                  <m:sty m:val="p"/>
                                </m:rPr>
                                <a:rPr lang="ar-SA" sz="1800" kern="1200" smtClean="0">
                                  <a:solidFill>
                                    <a:schemeClr val="tx1"/>
                                  </a:solidFill>
                                  <a:latin typeface="Cambria Math" panose="02040503050406030204" pitchFamily="18" charset="0"/>
                                  <a:ea typeface="+mn-ea"/>
                                  <a:cs typeface="+mn-cs"/>
                                </a:rPr>
                                <m:t>Θ</m:t>
                              </m:r>
                              <m:d>
                                <m:dPr>
                                  <m:ctrlPr>
                                    <a:rPr lang="ar-SA" sz="1800" i="1" kern="1200">
                                      <a:solidFill>
                                        <a:schemeClr val="tx1"/>
                                      </a:solidFill>
                                      <a:latin typeface="Cambria Math" panose="02040503050406030204" pitchFamily="18" charset="0"/>
                                      <a:ea typeface="+mn-ea"/>
                                      <a:cs typeface="+mn-cs"/>
                                    </a:rPr>
                                  </m:ctrlPr>
                                </m:dPr>
                                <m:e>
                                  <m:r>
                                    <a:rPr lang="ar-SA" sz="1800" i="1" kern="1200">
                                      <a:solidFill>
                                        <a:schemeClr val="tx1"/>
                                      </a:solidFill>
                                      <a:latin typeface="Cambria Math" panose="02040503050406030204" pitchFamily="18" charset="0"/>
                                      <a:ea typeface="+mn-ea"/>
                                      <a:cs typeface="+mn-cs"/>
                                    </a:rPr>
                                    <m:t>𝑛</m:t>
                                  </m:r>
                                </m:e>
                              </m:d>
                            </m:oMath>
                          </a14:m>
                          <a:r>
                            <a:rPr lang="en-US" sz="1400" dirty="0">
                              <a:solidFill>
                                <a:srgbClr val="2E3440"/>
                              </a:solidFill>
                              <a:latin typeface="Calibri" pitchFamily="34" charset="0"/>
                              <a:ea typeface="Calibri" pitchFamily="34" charset="-122"/>
                              <a:cs typeface="Calibri" pitchFamily="34" charset="-120"/>
                            </a:rPr>
                            <a:t> </a:t>
                          </a:r>
                          <a:r>
                            <a:rPr lang="en-US" sz="1600" dirty="0">
                              <a:solidFill>
                                <a:srgbClr val="2E3440"/>
                              </a:solidFill>
                              <a:latin typeface="Calibri" pitchFamily="34" charset="0"/>
                              <a:ea typeface="Calibri" pitchFamily="34" charset="-122"/>
                              <a:cs typeface="Calibri" pitchFamily="34" charset="-120"/>
                            </a:rPr>
                            <a:t>auxiliary</a:t>
                          </a:r>
                          <a:endParaRPr lang="en-US" sz="16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22050">
                    <a:tc>
                      <a:txBody>
                        <a:bodyPr/>
                        <a:lstStyle/>
                        <a:p>
                          <a:pPr marL="0" indent="0">
                            <a:buNone/>
                          </a:pPr>
                          <a:r>
                            <a:rPr lang="en-US" sz="1600" dirty="0">
                              <a:solidFill>
                                <a:srgbClr val="2E3440"/>
                              </a:solidFill>
                              <a:latin typeface="Calibri" pitchFamily="34" charset="0"/>
                              <a:ea typeface="Calibri" pitchFamily="34" charset="-122"/>
                              <a:cs typeface="Calibri" pitchFamily="34" charset="-120"/>
                            </a:rPr>
                            <a:t>Selection problem (median-of-medians)</a:t>
                          </a:r>
                          <a:endParaRPr lang="en-US" sz="16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lgn="l">
                            <a:buNone/>
                          </a:pPr>
                          <a14:m>
                            <m:oMath xmlns:m="http://schemas.openxmlformats.org/officeDocument/2006/math">
                              <m:r>
                                <m:rPr>
                                  <m:sty m:val="p"/>
                                </m:rPr>
                                <a:rPr lang="ar-SA" sz="1800" kern="1200" smtClean="0">
                                  <a:solidFill>
                                    <a:schemeClr val="tx1"/>
                                  </a:solidFill>
                                  <a:latin typeface="Cambria Math" panose="02040503050406030204" pitchFamily="18" charset="0"/>
                                  <a:ea typeface="+mn-ea"/>
                                  <a:cs typeface="+mn-cs"/>
                                </a:rPr>
                                <m:t>Θ</m:t>
                              </m:r>
                              <m:d>
                                <m:dPr>
                                  <m:ctrlPr>
                                    <a:rPr lang="ar-SA" sz="1800" i="1" kern="1200">
                                      <a:solidFill>
                                        <a:schemeClr val="tx1"/>
                                      </a:solidFill>
                                      <a:latin typeface="Cambria Math" panose="02040503050406030204" pitchFamily="18" charset="0"/>
                                      <a:ea typeface="+mn-ea"/>
                                      <a:cs typeface="+mn-cs"/>
                                    </a:rPr>
                                  </m:ctrlPr>
                                </m:dPr>
                                <m:e>
                                  <m:r>
                                    <a:rPr lang="ar-SA" sz="1800" i="1" kern="1200">
                                      <a:solidFill>
                                        <a:schemeClr val="tx1"/>
                                      </a:solidFill>
                                      <a:latin typeface="Cambria Math" panose="02040503050406030204" pitchFamily="18" charset="0"/>
                                      <a:ea typeface="+mn-ea"/>
                                      <a:cs typeface="+mn-cs"/>
                                    </a:rPr>
                                    <m:t>𝑛</m:t>
                                  </m:r>
                                </m:e>
                              </m:d>
                              <m:r>
                                <a:rPr lang="en-US" sz="1800" b="0" i="1" kern="1200" smtClean="0">
                                  <a:solidFill>
                                    <a:schemeClr val="tx1"/>
                                  </a:solidFill>
                                  <a:latin typeface="Cambria Math" panose="02040503050406030204" pitchFamily="18" charset="0"/>
                                  <a:ea typeface="+mn-ea"/>
                                  <a:cs typeface="+mn-cs"/>
                                </a:rPr>
                                <m:t> </m:t>
                              </m:r>
                            </m:oMath>
                          </a14:m>
                          <a:r>
                            <a:rPr lang="en-US" sz="1600" dirty="0">
                              <a:solidFill>
                                <a:srgbClr val="2E3440"/>
                              </a:solidFill>
                              <a:latin typeface="Calibri" pitchFamily="34" charset="0"/>
                              <a:ea typeface="Calibri" pitchFamily="34" charset="-122"/>
                              <a:cs typeface="Calibri" pitchFamily="34" charset="-120"/>
                            </a:rPr>
                            <a:t>in all three cases</a:t>
                          </a:r>
                          <a:endParaRPr lang="en-US" sz="16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lgn="l">
                            <a:buNone/>
                          </a:pPr>
                          <a14:m>
                            <m:oMath xmlns:m="http://schemas.openxmlformats.org/officeDocument/2006/math">
                              <m:r>
                                <m:rPr>
                                  <m:sty m:val="p"/>
                                </m:rPr>
                                <a:rPr lang="ar-SA" sz="1800" kern="1200" smtClean="0">
                                  <a:solidFill>
                                    <a:schemeClr val="tx1"/>
                                  </a:solidFill>
                                  <a:latin typeface="Cambria Math" panose="02040503050406030204" pitchFamily="18" charset="0"/>
                                  <a:ea typeface="+mn-ea"/>
                                  <a:cs typeface="+mn-cs"/>
                                </a:rPr>
                                <m:t>Θ</m:t>
                              </m:r>
                              <m:d>
                                <m:dPr>
                                  <m:ctrlPr>
                                    <a:rPr lang="ar-SA" sz="1800" i="1" kern="1200">
                                      <a:solidFill>
                                        <a:schemeClr val="tx1"/>
                                      </a:solidFill>
                                      <a:latin typeface="Cambria Math" panose="02040503050406030204" pitchFamily="18" charset="0"/>
                                      <a:ea typeface="+mn-ea"/>
                                      <a:cs typeface="+mn-cs"/>
                                    </a:rPr>
                                  </m:ctrlPr>
                                </m:dPr>
                                <m:e>
                                  <m:r>
                                    <a:rPr lang="ar-SA" sz="1800" i="1" kern="1200">
                                      <a:solidFill>
                                        <a:schemeClr val="tx1"/>
                                      </a:solidFill>
                                      <a:latin typeface="Cambria Math" panose="02040503050406030204" pitchFamily="18" charset="0"/>
                                      <a:ea typeface="+mn-ea"/>
                                      <a:cs typeface="+mn-cs"/>
                                    </a:rPr>
                                    <m:t>𝑛</m:t>
                                  </m:r>
                                </m:e>
                              </m:d>
                              <m:r>
                                <a:rPr lang="en-US" sz="1800" b="0" i="1" kern="1200" smtClean="0">
                                  <a:solidFill>
                                    <a:schemeClr val="tx1"/>
                                  </a:solidFill>
                                  <a:latin typeface="Cambria Math" panose="02040503050406030204" pitchFamily="18" charset="0"/>
                                  <a:ea typeface="+mn-ea"/>
                                  <a:cs typeface="+mn-cs"/>
                                </a:rPr>
                                <m:t> </m:t>
                              </m:r>
                            </m:oMath>
                          </a14:m>
                          <a:r>
                            <a:rPr lang="en-US" sz="1400" dirty="0">
                              <a:solidFill>
                                <a:srgbClr val="2E3440"/>
                              </a:solidFill>
                              <a:latin typeface="Calibri" pitchFamily="34" charset="0"/>
                              <a:ea typeface="Calibri" pitchFamily="34" charset="-122"/>
                              <a:cs typeface="Calibri" pitchFamily="34" charset="-120"/>
                            </a:rPr>
                            <a:t>f</a:t>
                          </a:r>
                          <a:r>
                            <a:rPr lang="en-US" sz="1600" dirty="0">
                              <a:solidFill>
                                <a:srgbClr val="2E3440"/>
                              </a:solidFill>
                              <a:latin typeface="Calibri" pitchFamily="34" charset="0"/>
                              <a:ea typeface="Calibri" pitchFamily="34" charset="-122"/>
                              <a:cs typeface="Calibri" pitchFamily="34" charset="-120"/>
                            </a:rPr>
                            <a:t>or L, E, G</a:t>
                          </a:r>
                          <a:endParaRPr lang="en-US" sz="16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22050">
                    <a:tc>
                      <a:txBody>
                        <a:bodyPr/>
                        <a:lstStyle/>
                        <a:p>
                          <a:pPr marL="0" indent="0">
                            <a:buNone/>
                          </a:pPr>
                          <a:r>
                            <a:rPr lang="en-US" sz="1600" dirty="0">
                              <a:solidFill>
                                <a:srgbClr val="2E3440"/>
                              </a:solidFill>
                              <a:latin typeface="Calibri" pitchFamily="34" charset="0"/>
                              <a:ea typeface="Calibri" pitchFamily="34" charset="-122"/>
                              <a:cs typeface="Calibri" pitchFamily="34" charset="-120"/>
                            </a:rPr>
                            <a:t>Kruskal's MST</a:t>
                          </a:r>
                          <a:endParaRPr lang="en-US" sz="16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lgn="l">
                            <a:buNone/>
                          </a:pPr>
                          <a:r>
                            <a:rPr lang="en-US" sz="1400" baseline="0" dirty="0">
                              <a:solidFill>
                                <a:srgbClr val="2E3440"/>
                              </a:solidFill>
                              <a:latin typeface="Calibri" pitchFamily="34" charset="0"/>
                              <a:ea typeface="Calibri" pitchFamily="34" charset="-122"/>
                              <a:cs typeface="Calibri" pitchFamily="34" charset="-120"/>
                            </a:rPr>
                            <a:t> </a:t>
                          </a:r>
                          <a14:m>
                            <m:oMath xmlns:m="http://schemas.openxmlformats.org/officeDocument/2006/math">
                              <m:r>
                                <a:rPr lang="ar-SA" sz="1800" i="1" kern="1200" smtClean="0">
                                  <a:solidFill>
                                    <a:schemeClr val="tx1"/>
                                  </a:solidFill>
                                  <a:latin typeface="Cambria Math" panose="02040503050406030204" pitchFamily="18" charset="0"/>
                                  <a:ea typeface="+mn-ea"/>
                                  <a:cs typeface="+mn-cs"/>
                                </a:rPr>
                                <m:t>𝑂</m:t>
                              </m:r>
                              <m:d>
                                <m:dPr>
                                  <m:ctrlPr>
                                    <a:rPr lang="ar-SA" sz="1800" i="1" kern="1200">
                                      <a:solidFill>
                                        <a:schemeClr val="tx1"/>
                                      </a:solidFill>
                                      <a:latin typeface="Cambria Math" panose="02040503050406030204" pitchFamily="18" charset="0"/>
                                      <a:ea typeface="+mn-ea"/>
                                      <a:cs typeface="+mn-cs"/>
                                    </a:rPr>
                                  </m:ctrlPr>
                                </m:dPr>
                                <m:e>
                                  <m:r>
                                    <a:rPr lang="ar-SA" sz="1800" i="1" kern="1200">
                                      <a:solidFill>
                                        <a:schemeClr val="tx1"/>
                                      </a:solidFill>
                                      <a:latin typeface="Cambria Math" panose="02040503050406030204" pitchFamily="18" charset="0"/>
                                      <a:ea typeface="+mn-ea"/>
                                      <a:cs typeface="+mn-cs"/>
                                    </a:rPr>
                                    <m:t>𝐸</m:t>
                                  </m:r>
                                  <m:func>
                                    <m:funcPr>
                                      <m:ctrlPr>
                                        <a:rPr lang="ar-SA" sz="1800" i="0" kern="1200">
                                          <a:solidFill>
                                            <a:schemeClr val="tx1"/>
                                          </a:solidFill>
                                          <a:latin typeface="Cambria Math" panose="02040503050406030204" pitchFamily="18" charset="0"/>
                                          <a:ea typeface="+mn-ea"/>
                                          <a:cs typeface="+mn-cs"/>
                                        </a:rPr>
                                      </m:ctrlPr>
                                    </m:funcPr>
                                    <m:fName>
                                      <m:r>
                                        <m:rPr>
                                          <m:sty m:val="p"/>
                                        </m:rPr>
                                        <a:rPr lang="ar-SA" sz="1800" i="0" kern="1200">
                                          <a:solidFill>
                                            <a:schemeClr val="tx1"/>
                                          </a:solidFill>
                                          <a:latin typeface="Cambria Math" panose="02040503050406030204" pitchFamily="18" charset="0"/>
                                          <a:ea typeface="+mn-ea"/>
                                          <a:cs typeface="+mn-cs"/>
                                        </a:rPr>
                                        <m:t>log</m:t>
                                      </m:r>
                                    </m:fName>
                                    <m:e>
                                      <m:r>
                                        <a:rPr lang="ar-SA" sz="1800" i="1" kern="1200">
                                          <a:solidFill>
                                            <a:schemeClr val="tx1"/>
                                          </a:solidFill>
                                          <a:latin typeface="Cambria Math" panose="02040503050406030204" pitchFamily="18" charset="0"/>
                                          <a:ea typeface="+mn-ea"/>
                                          <a:cs typeface="+mn-cs"/>
                                        </a:rPr>
                                        <m:t>𝐸</m:t>
                                      </m:r>
                                    </m:e>
                                  </m:func>
                                </m:e>
                              </m:d>
                            </m:oMath>
                          </a14:m>
                          <a:r>
                            <a:rPr lang="en-US" sz="1400" dirty="0">
                              <a:solidFill>
                                <a:srgbClr val="2E3440"/>
                              </a:solidFill>
                              <a:latin typeface="Calibri" pitchFamily="34" charset="0"/>
                              <a:ea typeface="Calibri" pitchFamily="34" charset="-122"/>
                              <a:cs typeface="Calibri" pitchFamily="34" charset="-120"/>
                            </a:rPr>
                            <a:t> = </a:t>
                          </a:r>
                          <a14:m>
                            <m:oMath xmlns:m="http://schemas.openxmlformats.org/officeDocument/2006/math">
                              <m:r>
                                <a:rPr lang="ar-SA" sz="1800" b="0" i="0" kern="1200" smtClean="0">
                                  <a:solidFill>
                                    <a:schemeClr val="tx1"/>
                                  </a:solidFill>
                                  <a:latin typeface="Cambria Math" panose="02040503050406030204" pitchFamily="18" charset="0"/>
                                  <a:ea typeface="+mn-ea"/>
                                  <a:cs typeface="+mn-cs"/>
                                </a:rPr>
                                <m:t> </m:t>
                              </m:r>
                              <m:r>
                                <a:rPr lang="ar-SA" sz="1800" i="1" kern="1200" smtClean="0">
                                  <a:solidFill>
                                    <a:schemeClr val="tx1"/>
                                  </a:solidFill>
                                  <a:latin typeface="Cambria Math" panose="02040503050406030204" pitchFamily="18" charset="0"/>
                                  <a:ea typeface="+mn-ea"/>
                                  <a:cs typeface="+mn-cs"/>
                                </a:rPr>
                                <m:t>𝑂</m:t>
                              </m:r>
                              <m:d>
                                <m:dPr>
                                  <m:ctrlPr>
                                    <a:rPr lang="ar-SA" sz="1800" i="1" kern="1200">
                                      <a:solidFill>
                                        <a:schemeClr val="tx1"/>
                                      </a:solidFill>
                                      <a:latin typeface="Cambria Math" panose="02040503050406030204" pitchFamily="18" charset="0"/>
                                      <a:ea typeface="+mn-ea"/>
                                      <a:cs typeface="+mn-cs"/>
                                    </a:rPr>
                                  </m:ctrlPr>
                                </m:dPr>
                                <m:e>
                                  <m:r>
                                    <a:rPr lang="ar-SA" sz="1800" i="1" kern="1200">
                                      <a:solidFill>
                                        <a:schemeClr val="tx1"/>
                                      </a:solidFill>
                                      <a:latin typeface="Cambria Math" panose="02040503050406030204" pitchFamily="18" charset="0"/>
                                      <a:ea typeface="+mn-ea"/>
                                      <a:cs typeface="+mn-cs"/>
                                    </a:rPr>
                                    <m:t>𝐸</m:t>
                                  </m:r>
                                  <m:func>
                                    <m:funcPr>
                                      <m:ctrlPr>
                                        <a:rPr lang="ar-SA" sz="1800" i="0" kern="1200">
                                          <a:solidFill>
                                            <a:schemeClr val="tx1"/>
                                          </a:solidFill>
                                          <a:latin typeface="Cambria Math" panose="02040503050406030204" pitchFamily="18" charset="0"/>
                                          <a:ea typeface="+mn-ea"/>
                                          <a:cs typeface="+mn-cs"/>
                                        </a:rPr>
                                      </m:ctrlPr>
                                    </m:funcPr>
                                    <m:fName>
                                      <m:r>
                                        <m:rPr>
                                          <m:sty m:val="p"/>
                                        </m:rPr>
                                        <a:rPr lang="ar-SA" sz="1800" i="0" kern="1200">
                                          <a:solidFill>
                                            <a:schemeClr val="tx1"/>
                                          </a:solidFill>
                                          <a:latin typeface="Cambria Math" panose="02040503050406030204" pitchFamily="18" charset="0"/>
                                          <a:ea typeface="+mn-ea"/>
                                          <a:cs typeface="+mn-cs"/>
                                        </a:rPr>
                                        <m:t>log</m:t>
                                      </m:r>
                                    </m:fName>
                                    <m:e>
                                      <m:r>
                                        <a:rPr lang="ar-SA" sz="1800" i="1" kern="1200">
                                          <a:solidFill>
                                            <a:schemeClr val="tx1"/>
                                          </a:solidFill>
                                          <a:latin typeface="Cambria Math" panose="02040503050406030204" pitchFamily="18" charset="0"/>
                                          <a:ea typeface="+mn-ea"/>
                                          <a:cs typeface="+mn-cs"/>
                                        </a:rPr>
                                        <m:t>𝑉</m:t>
                                      </m:r>
                                    </m:e>
                                  </m:func>
                                </m:e>
                              </m:d>
                            </m:oMath>
                          </a14:m>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lgn="l">
                            <a:buNone/>
                          </a:pPr>
                          <a14:m>
                            <m:oMathPara xmlns:m="http://schemas.openxmlformats.org/officeDocument/2006/math">
                              <m:oMathParaPr>
                                <m:jc m:val="left"/>
                              </m:oMathParaPr>
                              <m:oMath>
                                <m:r>
                                  <a:rPr lang="ar-SA" sz="1800" i="1" kern="1200" smtClean="0">
                                    <a:solidFill>
                                      <a:schemeClr val="tx1"/>
                                    </a:solidFill>
                                    <a:latin typeface="Cambria Math" panose="02040503050406030204" pitchFamily="18" charset="0"/>
                                    <a:ea typeface="+mn-ea"/>
                                    <a:cs typeface="+mn-cs"/>
                                  </a:rPr>
                                  <m:t>𝑂</m:t>
                                </m:r>
                                <m:d>
                                  <m:dPr>
                                    <m:ctrlPr>
                                      <a:rPr lang="ar-SA" sz="1800" i="1" kern="1200">
                                        <a:solidFill>
                                          <a:schemeClr val="tx1"/>
                                        </a:solidFill>
                                        <a:latin typeface="Cambria Math" panose="02040503050406030204" pitchFamily="18" charset="0"/>
                                        <a:ea typeface="+mn-ea"/>
                                        <a:cs typeface="+mn-cs"/>
                                      </a:rPr>
                                    </m:ctrlPr>
                                  </m:dPr>
                                  <m:e>
                                    <m:r>
                                      <a:rPr lang="ar-SA" sz="1800" i="1" kern="1200">
                                        <a:solidFill>
                                          <a:schemeClr val="tx1"/>
                                        </a:solidFill>
                                        <a:latin typeface="Cambria Math" panose="02040503050406030204" pitchFamily="18" charset="0"/>
                                        <a:ea typeface="+mn-ea"/>
                                        <a:cs typeface="+mn-cs"/>
                                      </a:rPr>
                                      <m:t>𝑉</m:t>
                                    </m:r>
                                    <m:r>
                                      <a:rPr lang="ar-SA" sz="1800" i="0" kern="1200">
                                        <a:solidFill>
                                          <a:schemeClr val="tx1"/>
                                        </a:solidFill>
                                        <a:latin typeface="Cambria Math" panose="02040503050406030204" pitchFamily="18" charset="0"/>
                                        <a:ea typeface="+mn-ea"/>
                                        <a:cs typeface="+mn-cs"/>
                                      </a:rPr>
                                      <m:t>+</m:t>
                                    </m:r>
                                    <m:r>
                                      <a:rPr lang="ar-SA" sz="1800" i="1" kern="1200">
                                        <a:solidFill>
                                          <a:schemeClr val="tx1"/>
                                        </a:solidFill>
                                        <a:latin typeface="Cambria Math" panose="02040503050406030204" pitchFamily="18" charset="0"/>
                                        <a:ea typeface="+mn-ea"/>
                                        <a:cs typeface="+mn-cs"/>
                                      </a:rPr>
                                      <m:t>𝐸</m:t>
                                    </m:r>
                                  </m:e>
                                </m:d>
                              </m:oMath>
                            </m:oMathPara>
                          </a14:m>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mc:Choice>
        <mc:Fallback>
          <p:graphicFrame>
            <p:nvGraphicFramePr>
              <p:cNvPr id="11" name="Table 0"/>
              <p:cNvGraphicFramePr>
                <a:graphicFrameLocks noGrp="1"/>
              </p:cNvGraphicFramePr>
              <p:nvPr>
                <p:extLst>
                  <p:ext uri="{D42A27DB-BD31-4B8C-83A1-F6EECF244321}">
                    <p14:modId xmlns:p14="http://schemas.microsoft.com/office/powerpoint/2010/main" val="4034559041"/>
                  </p:ext>
                </p:extLst>
              </p:nvPr>
            </p:nvGraphicFramePr>
            <p:xfrm>
              <a:off x="535709" y="1481327"/>
              <a:ext cx="10985731" cy="4088200"/>
            </p:xfrm>
            <a:graphic>
              <a:graphicData uri="http://schemas.openxmlformats.org/drawingml/2006/table">
                <a:tbl>
                  <a:tblPr/>
                  <a:tblGrid>
                    <a:gridCol w="3969634">
                      <a:extLst>
                        <a:ext uri="{9D8B030D-6E8A-4147-A177-3AD203B41FA5}">
                          <a16:colId xmlns:a16="http://schemas.microsoft.com/office/drawing/2014/main" val="20000"/>
                        </a:ext>
                      </a:extLst>
                    </a:gridCol>
                    <a:gridCol w="4061951">
                      <a:extLst>
                        <a:ext uri="{9D8B030D-6E8A-4147-A177-3AD203B41FA5}">
                          <a16:colId xmlns:a16="http://schemas.microsoft.com/office/drawing/2014/main" val="20001"/>
                        </a:ext>
                      </a:extLst>
                    </a:gridCol>
                    <a:gridCol w="2954146">
                      <a:extLst>
                        <a:ext uri="{9D8B030D-6E8A-4147-A177-3AD203B41FA5}">
                          <a16:colId xmlns:a16="http://schemas.microsoft.com/office/drawing/2014/main" val="20002"/>
                        </a:ext>
                      </a:extLst>
                    </a:gridCol>
                  </a:tblGrid>
                  <a:tr h="102205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Algorithm</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16243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Time (best / average / worst)</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16243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Space</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16243F"/>
                        </a:solidFill>
                      </a:tcPr>
                    </a:tc>
                    <a:extLst>
                      <a:ext uri="{0D108BD9-81ED-4DB2-BD59-A6C34878D82A}">
                        <a16:rowId xmlns:a16="http://schemas.microsoft.com/office/drawing/2014/main" val="10000"/>
                      </a:ext>
                    </a:extLst>
                  </a:tr>
                  <a:tr h="1022050">
                    <a:tc>
                      <a:txBody>
                        <a:bodyPr/>
                        <a:lstStyle/>
                        <a:p>
                          <a:pPr marL="0" indent="0">
                            <a:buNone/>
                          </a:pPr>
                          <a:r>
                            <a:rPr lang="ar-SA" sz="1600" dirty="0"/>
                            <a:t>Merging Two Sorted Lists</a:t>
                          </a:r>
                          <a:endParaRPr lang="en-US" sz="16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endParaRPr lang="ar-SA"/>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blipFill>
                          <a:blip r:embed="rId3"/>
                          <a:stretch>
                            <a:fillRect l="-98048" t="-100595" r="-73273" b="-201190"/>
                          </a:stretch>
                        </a:blipFill>
                      </a:tcPr>
                    </a:tc>
                    <a:tc>
                      <a:txBody>
                        <a:bodyPr/>
                        <a:lstStyle/>
                        <a:p>
                          <a:endParaRPr lang="ar-SA"/>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blipFill>
                          <a:blip r:embed="rId3"/>
                          <a:stretch>
                            <a:fillRect l="-271959" t="-100595" r="-619" b="-201190"/>
                          </a:stretch>
                        </a:blipFill>
                      </a:tcPr>
                    </a:tc>
                    <a:extLst>
                      <a:ext uri="{0D108BD9-81ED-4DB2-BD59-A6C34878D82A}">
                        <a16:rowId xmlns:a16="http://schemas.microsoft.com/office/drawing/2014/main" val="10001"/>
                      </a:ext>
                    </a:extLst>
                  </a:tr>
                  <a:tr h="1022050">
                    <a:tc>
                      <a:txBody>
                        <a:bodyPr/>
                        <a:lstStyle/>
                        <a:p>
                          <a:pPr marL="0" indent="0">
                            <a:buNone/>
                          </a:pPr>
                          <a:r>
                            <a:rPr lang="en-US" sz="1600" dirty="0">
                              <a:solidFill>
                                <a:srgbClr val="2E3440"/>
                              </a:solidFill>
                              <a:latin typeface="Calibri" pitchFamily="34" charset="0"/>
                              <a:ea typeface="Calibri" pitchFamily="34" charset="-122"/>
                              <a:cs typeface="Calibri" pitchFamily="34" charset="-120"/>
                            </a:rPr>
                            <a:t>Selection problem (median-of-medians)</a:t>
                          </a:r>
                          <a:endParaRPr lang="en-US" sz="16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endParaRPr lang="ar-SA"/>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blipFill>
                          <a:blip r:embed="rId3"/>
                          <a:stretch>
                            <a:fillRect l="-98048" t="-200595" r="-73273" b="-101190"/>
                          </a:stretch>
                        </a:blipFill>
                      </a:tcPr>
                    </a:tc>
                    <a:tc>
                      <a:txBody>
                        <a:bodyPr/>
                        <a:lstStyle/>
                        <a:p>
                          <a:endParaRPr lang="ar-SA"/>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blipFill>
                          <a:blip r:embed="rId3"/>
                          <a:stretch>
                            <a:fillRect l="-271959" t="-200595" r="-619" b="-101190"/>
                          </a:stretch>
                        </a:blipFill>
                      </a:tcPr>
                    </a:tc>
                    <a:extLst>
                      <a:ext uri="{0D108BD9-81ED-4DB2-BD59-A6C34878D82A}">
                        <a16:rowId xmlns:a16="http://schemas.microsoft.com/office/drawing/2014/main" val="10002"/>
                      </a:ext>
                    </a:extLst>
                  </a:tr>
                  <a:tr h="1022050">
                    <a:tc>
                      <a:txBody>
                        <a:bodyPr/>
                        <a:lstStyle/>
                        <a:p>
                          <a:pPr marL="0" indent="0">
                            <a:buNone/>
                          </a:pPr>
                          <a:r>
                            <a:rPr lang="en-US" sz="1600" dirty="0">
                              <a:solidFill>
                                <a:srgbClr val="2E3440"/>
                              </a:solidFill>
                              <a:latin typeface="Calibri" pitchFamily="34" charset="0"/>
                              <a:ea typeface="Calibri" pitchFamily="34" charset="-122"/>
                              <a:cs typeface="Calibri" pitchFamily="34" charset="-120"/>
                            </a:rPr>
                            <a:t>Kruskal's MST</a:t>
                          </a:r>
                          <a:endParaRPr lang="en-US" sz="16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endParaRPr lang="ar-SA"/>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blipFill>
                          <a:blip r:embed="rId3"/>
                          <a:stretch>
                            <a:fillRect l="-98048" t="-300595" r="-73273" b="-1190"/>
                          </a:stretch>
                        </a:blipFill>
                      </a:tcPr>
                    </a:tc>
                    <a:tc>
                      <a:txBody>
                        <a:bodyPr/>
                        <a:lstStyle/>
                        <a:p>
                          <a:endParaRPr lang="ar-SA"/>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blipFill>
                          <a:blip r:embed="rId3"/>
                          <a:stretch>
                            <a:fillRect l="-271959" t="-300595" r="-619" b="-1190"/>
                          </a:stretch>
                        </a:blipFill>
                      </a:tcPr>
                    </a:tc>
                    <a:extLst>
                      <a:ext uri="{0D108BD9-81ED-4DB2-BD59-A6C34878D82A}">
                        <a16:rowId xmlns:a16="http://schemas.microsoft.com/office/drawing/2014/main" val="10003"/>
                      </a:ext>
                    </a:extLst>
                  </a:tr>
                </a:tbl>
              </a:graphicData>
            </a:graphic>
          </p:graphicFrame>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438912"/>
            <a:ext cx="10881360" cy="731520"/>
          </a:xfrm>
          <a:prstGeom prst="rect">
            <a:avLst/>
          </a:prstGeom>
          <a:noFill/>
          <a:ln/>
        </p:spPr>
        <p:txBody>
          <a:bodyPr wrap="square" rtlCol="0" anchor="ctr"/>
          <a:lstStyle/>
          <a:p>
            <a:pPr marL="0" indent="0">
              <a:buNone/>
            </a:pPr>
            <a:r>
              <a:rPr lang="en-US" sz="3000" b="1" dirty="0">
                <a:solidFill>
                  <a:srgbClr val="16243F"/>
                </a:solidFill>
                <a:latin typeface="Cambria" pitchFamily="34" charset="0"/>
                <a:ea typeface="Cambria" pitchFamily="34" charset="-122"/>
                <a:cs typeface="Cambria" pitchFamily="34" charset="-120"/>
              </a:rPr>
              <a:t>Implementation Details</a:t>
            </a:r>
            <a:endParaRPr lang="en-US" sz="3000" dirty="0"/>
          </a:p>
        </p:txBody>
      </p:sp>
      <p:sp>
        <p:nvSpPr>
          <p:cNvPr id="3" name="Text 1"/>
          <p:cNvSpPr/>
          <p:nvPr/>
        </p:nvSpPr>
        <p:spPr>
          <a:xfrm>
            <a:off x="640080" y="5989320"/>
            <a:ext cx="6400800" cy="292608"/>
          </a:xfrm>
          <a:prstGeom prst="rect">
            <a:avLst/>
          </a:prstGeom>
          <a:noFill/>
          <a:ln/>
        </p:spPr>
        <p:txBody>
          <a:bodyPr wrap="square" rtlCol="0" anchor="ctr"/>
          <a:lstStyle/>
          <a:p>
            <a:pPr marL="0" indent="0">
              <a:buNone/>
            </a:pPr>
            <a:endParaRPr lang="en-US" sz="1400" dirty="0"/>
          </a:p>
        </p:txBody>
      </p:sp>
      <p:sp>
        <p:nvSpPr>
          <p:cNvPr id="4" name="Text 2"/>
          <p:cNvSpPr/>
          <p:nvPr/>
        </p:nvSpPr>
        <p:spPr>
          <a:xfrm>
            <a:off x="10607040" y="5989320"/>
            <a:ext cx="941832" cy="292608"/>
          </a:xfrm>
          <a:prstGeom prst="rect">
            <a:avLst/>
          </a:prstGeom>
          <a:noFill/>
          <a:ln/>
        </p:spPr>
        <p:txBody>
          <a:bodyPr wrap="square" rtlCol="0" anchor="ctr"/>
          <a:lstStyle/>
          <a:p>
            <a:pPr marL="0" indent="0" algn="r">
              <a:buNone/>
            </a:pPr>
            <a:r>
              <a:rPr lang="en-US" sz="1400" dirty="0">
                <a:solidFill>
                  <a:srgbClr val="6E7480"/>
                </a:solidFill>
                <a:latin typeface="Calibri" pitchFamily="34" charset="0"/>
                <a:ea typeface="Calibri" pitchFamily="34" charset="-122"/>
                <a:cs typeface="Calibri" pitchFamily="34" charset="-120"/>
              </a:rPr>
              <a:t>10</a:t>
            </a:r>
            <a:endParaRPr lang="en-US" sz="1400" dirty="0"/>
          </a:p>
        </p:txBody>
      </p:sp>
      <p:sp>
        <p:nvSpPr>
          <p:cNvPr id="5" name="Text 3"/>
          <p:cNvSpPr/>
          <p:nvPr/>
        </p:nvSpPr>
        <p:spPr>
          <a:xfrm>
            <a:off x="640080" y="1508760"/>
            <a:ext cx="5760720" cy="4206240"/>
          </a:xfrm>
          <a:prstGeom prst="rect">
            <a:avLst/>
          </a:prstGeom>
          <a:noFill/>
          <a:ln/>
        </p:spPr>
        <p:txBody>
          <a:bodyPr wrap="square" rtlCol="0" anchor="t"/>
          <a:lstStyle/>
          <a:p>
            <a:pPr marL="342900" indent="-342900">
              <a:spcAft>
                <a:spcPts val="1200"/>
              </a:spcAft>
              <a:buSzPct val="100000"/>
              <a:buChar char="•"/>
            </a:pPr>
            <a:r>
              <a:rPr lang="en-US" sz="1700" dirty="0" err="1">
                <a:solidFill>
                  <a:srgbClr val="2E3440"/>
                </a:solidFill>
                <a:latin typeface="Calibri" pitchFamily="34" charset="0"/>
                <a:ea typeface="Calibri" pitchFamily="34" charset="-122"/>
                <a:cs typeface="Calibri" pitchFamily="34" charset="-120"/>
              </a:rPr>
              <a:t>Javadeveloped</a:t>
            </a:r>
            <a:r>
              <a:rPr lang="en-US" sz="1700" dirty="0">
                <a:solidFill>
                  <a:srgbClr val="2E3440"/>
                </a:solidFill>
                <a:latin typeface="Calibri" pitchFamily="34" charset="0"/>
                <a:ea typeface="Calibri" pitchFamily="34" charset="-122"/>
                <a:cs typeface="Calibri" pitchFamily="34" charset="-120"/>
              </a:rPr>
              <a:t> and debugged in Eclipse</a:t>
            </a:r>
            <a:endParaRPr lang="en-US" sz="1700" dirty="0"/>
          </a:p>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Monolithic single-file architecture: ProjectMain.java</a:t>
            </a:r>
            <a:endParaRPr lang="en-US" sz="1700" dirty="0"/>
          </a:p>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Edge implements Comparable&lt;Edge&gt;, so Collections.sort works</a:t>
            </a:r>
            <a:endParaRPr lang="en-US" sz="1700" dirty="0"/>
          </a:p>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Line-buffered input: sc.nextLine().trim() + Integer.parseInt</a:t>
            </a:r>
            <a:endParaRPr lang="en-US" sz="1700" dirty="0"/>
          </a:p>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Bounds validated before every call, so bad input never crashes</a:t>
            </a:r>
            <a:endParaRPr lang="en-US" sz="1700" dirty="0"/>
          </a:p>
        </p:txBody>
      </p:sp>
      <p:sp>
        <p:nvSpPr>
          <p:cNvPr id="6" name="Shape 4"/>
          <p:cNvSpPr/>
          <p:nvPr/>
        </p:nvSpPr>
        <p:spPr>
          <a:xfrm>
            <a:off x="6858000" y="1508760"/>
            <a:ext cx="4690872" cy="3840480"/>
          </a:xfrm>
          <a:prstGeom prst="rect">
            <a:avLst/>
          </a:prstGeom>
          <a:solidFill>
            <a:srgbClr val="1E2C49"/>
          </a:solidFill>
          <a:ln w="12700">
            <a:solidFill>
              <a:srgbClr val="1E2C49"/>
            </a:solidFill>
            <a:prstDash val="solid"/>
          </a:ln>
        </p:spPr>
        <p:txBody>
          <a:bodyPr/>
          <a:lstStyle/>
          <a:p>
            <a:endParaRPr lang="ar-SA"/>
          </a:p>
        </p:txBody>
      </p:sp>
      <p:sp>
        <p:nvSpPr>
          <p:cNvPr id="7" name="Text 5"/>
          <p:cNvSpPr/>
          <p:nvPr/>
        </p:nvSpPr>
        <p:spPr>
          <a:xfrm>
            <a:off x="7086600" y="1645920"/>
            <a:ext cx="4233672" cy="274320"/>
          </a:xfrm>
          <a:prstGeom prst="rect">
            <a:avLst/>
          </a:prstGeom>
          <a:noFill/>
          <a:ln/>
        </p:spPr>
        <p:txBody>
          <a:bodyPr wrap="square" rtlCol="0" anchor="ctr"/>
          <a:lstStyle/>
          <a:p>
            <a:pPr marL="0" indent="0">
              <a:buNone/>
            </a:pPr>
            <a:r>
              <a:rPr lang="en-US" sz="1400" b="1" dirty="0">
                <a:solidFill>
                  <a:srgbClr val="C1652F"/>
                </a:solidFill>
                <a:latin typeface="Calibri" pitchFamily="34" charset="0"/>
                <a:ea typeface="Calibri" pitchFamily="34" charset="-122"/>
                <a:cs typeface="Calibri" pitchFamily="34" charset="-120"/>
              </a:rPr>
              <a:t>Custom interfaces</a:t>
            </a:r>
            <a:endParaRPr lang="en-US" sz="1400" dirty="0"/>
          </a:p>
        </p:txBody>
      </p:sp>
      <p:sp>
        <p:nvSpPr>
          <p:cNvPr id="8" name="Text 6"/>
          <p:cNvSpPr/>
          <p:nvPr/>
        </p:nvSpPr>
        <p:spPr>
          <a:xfrm>
            <a:off x="7086600" y="2148840"/>
            <a:ext cx="4233672" cy="2971800"/>
          </a:xfrm>
          <a:prstGeom prst="rect">
            <a:avLst/>
          </a:prstGeom>
          <a:noFill/>
          <a:ln/>
        </p:spPr>
        <p:txBody>
          <a:bodyPr wrap="square" rtlCol="0" anchor="t"/>
          <a:lstStyle/>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void merge(int[] A, int p,</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           int q, int r)</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int  select(int[] a, int k)</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void runKruskal(Scanner sc)</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int  find(int[] parent, int i)</a:t>
            </a:r>
            <a:endParaRPr lang="en-US" sz="1400" dirty="0"/>
          </a:p>
          <a:p>
            <a:pPr marL="0" indent="0">
              <a:lnSpc>
                <a:spcPct val="115000"/>
              </a:lnSpc>
              <a:buNone/>
            </a:pP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class Edge implements</a:t>
            </a:r>
            <a:endParaRPr lang="en-US" sz="1400" dirty="0"/>
          </a:p>
          <a:p>
            <a:pPr marL="0" indent="0">
              <a:lnSpc>
                <a:spcPct val="115000"/>
              </a:lnSpc>
              <a:buNone/>
            </a:pPr>
            <a:r>
              <a:rPr lang="en-US" sz="1400" dirty="0">
                <a:solidFill>
                  <a:srgbClr val="E8EAF0"/>
                </a:solidFill>
                <a:latin typeface="Consolas" pitchFamily="34" charset="0"/>
                <a:ea typeface="Consolas" pitchFamily="34" charset="-122"/>
                <a:cs typeface="Consolas" pitchFamily="34" charset="-120"/>
              </a:rPr>
              <a:t>      Comparable&lt;Edge&gt;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438912"/>
            <a:ext cx="10881360" cy="731520"/>
          </a:xfrm>
          <a:prstGeom prst="rect">
            <a:avLst/>
          </a:prstGeom>
          <a:noFill/>
          <a:ln/>
        </p:spPr>
        <p:txBody>
          <a:bodyPr wrap="square" rtlCol="0" anchor="ctr"/>
          <a:lstStyle/>
          <a:p>
            <a:pPr marL="0" indent="0">
              <a:buNone/>
            </a:pPr>
            <a:r>
              <a:rPr lang="en-US" sz="3000" b="1" dirty="0">
                <a:solidFill>
                  <a:srgbClr val="16243F"/>
                </a:solidFill>
                <a:latin typeface="Cambria" pitchFamily="34" charset="0"/>
                <a:ea typeface="Cambria" pitchFamily="34" charset="-122"/>
                <a:cs typeface="Cambria" pitchFamily="34" charset="-120"/>
              </a:rPr>
              <a:t>Testing and Validation</a:t>
            </a:r>
            <a:endParaRPr lang="en-US" sz="3000" dirty="0"/>
          </a:p>
        </p:txBody>
      </p:sp>
      <p:sp>
        <p:nvSpPr>
          <p:cNvPr id="3" name="Text 1"/>
          <p:cNvSpPr/>
          <p:nvPr/>
        </p:nvSpPr>
        <p:spPr>
          <a:xfrm>
            <a:off x="640080" y="5989320"/>
            <a:ext cx="6400800" cy="292608"/>
          </a:xfrm>
          <a:prstGeom prst="rect">
            <a:avLst/>
          </a:prstGeom>
          <a:noFill/>
          <a:ln/>
        </p:spPr>
        <p:txBody>
          <a:bodyPr wrap="square" rtlCol="0" anchor="ctr"/>
          <a:lstStyle/>
          <a:p>
            <a:pPr marL="0" indent="0">
              <a:buNone/>
            </a:pPr>
            <a:endParaRPr lang="en-US" sz="1400" dirty="0"/>
          </a:p>
        </p:txBody>
      </p:sp>
      <p:sp>
        <p:nvSpPr>
          <p:cNvPr id="4" name="Text 2"/>
          <p:cNvSpPr/>
          <p:nvPr/>
        </p:nvSpPr>
        <p:spPr>
          <a:xfrm>
            <a:off x="10607040" y="5989320"/>
            <a:ext cx="941832" cy="292608"/>
          </a:xfrm>
          <a:prstGeom prst="rect">
            <a:avLst/>
          </a:prstGeom>
          <a:noFill/>
          <a:ln/>
        </p:spPr>
        <p:txBody>
          <a:bodyPr wrap="square" rtlCol="0" anchor="ctr"/>
          <a:lstStyle/>
          <a:p>
            <a:pPr marL="0" indent="0" algn="r">
              <a:buNone/>
            </a:pPr>
            <a:r>
              <a:rPr lang="en-US" sz="1400" dirty="0">
                <a:solidFill>
                  <a:srgbClr val="6E7480"/>
                </a:solidFill>
                <a:latin typeface="Calibri" pitchFamily="34" charset="0"/>
                <a:ea typeface="Calibri" pitchFamily="34" charset="-122"/>
                <a:cs typeface="Calibri" pitchFamily="34" charset="-120"/>
              </a:rPr>
              <a:t>11</a:t>
            </a:r>
            <a:endParaRPr lang="en-US" sz="1400" dirty="0"/>
          </a:p>
        </p:txBody>
      </p:sp>
      <p:sp>
        <p:nvSpPr>
          <p:cNvPr id="5" name="Text 3"/>
          <p:cNvSpPr/>
          <p:nvPr/>
        </p:nvSpPr>
        <p:spPr>
          <a:xfrm>
            <a:off x="640080" y="1508760"/>
            <a:ext cx="7589520" cy="3108960"/>
          </a:xfrm>
          <a:prstGeom prst="rect">
            <a:avLst/>
          </a:prstGeom>
          <a:noFill/>
          <a:ln/>
        </p:spPr>
        <p:txBody>
          <a:bodyPr wrap="square" rtlCol="0" anchor="t"/>
          <a:lstStyle/>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Unit testing: merge, select and runKruskal tested in isolation</a:t>
            </a:r>
            <a:endParaRPr lang="en-US" sz="1700" dirty="0"/>
          </a:p>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Boundary testing: invalid indices, k out of range, disconnected graphs</a:t>
            </a:r>
            <a:endParaRPr lang="en-US" sz="1700" dirty="0"/>
          </a:p>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Integration testing: several algorithms run back-to-back in one session</a:t>
            </a:r>
            <a:endParaRPr lang="en-US" sz="1700" dirty="0"/>
          </a:p>
          <a:p>
            <a:pPr marL="342900" indent="-342900">
              <a:spcAft>
                <a:spcPts val="1200"/>
              </a:spcAft>
              <a:buSzPct val="100000"/>
              <a:buChar char="•"/>
            </a:pPr>
            <a:r>
              <a:rPr lang="en-US" sz="1700" dirty="0">
                <a:solidFill>
                  <a:srgbClr val="2E3440"/>
                </a:solidFill>
                <a:latin typeface="Calibri" pitchFamily="34" charset="0"/>
                <a:ea typeface="Calibri" pitchFamily="34" charset="-122"/>
                <a:cs typeface="Calibri" pitchFamily="34" charset="-120"/>
              </a:rPr>
              <a:t>Checked that the input stream stays clean and no state leaks between runs</a:t>
            </a:r>
            <a:endParaRPr lang="en-US" sz="1700" dirty="0"/>
          </a:p>
        </p:txBody>
      </p:sp>
      <p:sp>
        <p:nvSpPr>
          <p:cNvPr id="6" name="Shape 4"/>
          <p:cNvSpPr/>
          <p:nvPr/>
        </p:nvSpPr>
        <p:spPr>
          <a:xfrm>
            <a:off x="8549640" y="1508760"/>
            <a:ext cx="2999232" cy="2651760"/>
          </a:xfrm>
          <a:prstGeom prst="rect">
            <a:avLst/>
          </a:prstGeom>
          <a:solidFill>
            <a:srgbClr val="FFFFFF"/>
          </a:solidFill>
          <a:ln w="12700">
            <a:solidFill>
              <a:srgbClr val="D9DCE3"/>
            </a:solidFill>
            <a:prstDash val="solid"/>
          </a:ln>
        </p:spPr>
        <p:txBody>
          <a:bodyPr/>
          <a:lstStyle/>
          <a:p>
            <a:endParaRPr lang="ar-SA"/>
          </a:p>
        </p:txBody>
      </p:sp>
      <p:sp>
        <p:nvSpPr>
          <p:cNvPr id="7" name="Text 5"/>
          <p:cNvSpPr/>
          <p:nvPr/>
        </p:nvSpPr>
        <p:spPr>
          <a:xfrm>
            <a:off x="8823960" y="1737360"/>
            <a:ext cx="2450592" cy="868680"/>
          </a:xfrm>
          <a:prstGeom prst="rect">
            <a:avLst/>
          </a:prstGeom>
          <a:noFill/>
          <a:ln/>
        </p:spPr>
        <p:txBody>
          <a:bodyPr wrap="square" rtlCol="0" anchor="ctr"/>
          <a:lstStyle/>
          <a:p>
            <a:pPr marL="0" indent="0">
              <a:buNone/>
            </a:pPr>
            <a:r>
              <a:rPr lang="en-US" sz="4000" b="1" dirty="0">
                <a:solidFill>
                  <a:srgbClr val="C1652F"/>
                </a:solidFill>
                <a:latin typeface="Cambria" pitchFamily="34" charset="0"/>
                <a:ea typeface="Cambria" pitchFamily="34" charset="-122"/>
                <a:cs typeface="Cambria" pitchFamily="34" charset="-120"/>
              </a:rPr>
              <a:t>100%</a:t>
            </a:r>
            <a:endParaRPr lang="en-US" sz="4000" dirty="0"/>
          </a:p>
        </p:txBody>
      </p:sp>
      <p:sp>
        <p:nvSpPr>
          <p:cNvPr id="8" name="Text 6"/>
          <p:cNvSpPr/>
          <p:nvPr/>
        </p:nvSpPr>
        <p:spPr>
          <a:xfrm>
            <a:off x="8823960" y="2834640"/>
            <a:ext cx="2450592" cy="1097280"/>
          </a:xfrm>
          <a:prstGeom prst="rect">
            <a:avLst/>
          </a:prstGeom>
          <a:noFill/>
          <a:ln/>
        </p:spPr>
        <p:txBody>
          <a:bodyPr wrap="square" rtlCol="0" anchor="t"/>
          <a:lstStyle/>
          <a:p>
            <a:pPr marL="0" indent="0">
              <a:buNone/>
            </a:pPr>
            <a:r>
              <a:rPr lang="en-US" sz="1500" dirty="0">
                <a:solidFill>
                  <a:srgbClr val="2E3440"/>
                </a:solidFill>
                <a:latin typeface="Calibri" pitchFamily="34" charset="0"/>
                <a:ea typeface="Calibri" pitchFamily="34" charset="-122"/>
                <a:cs typeface="Calibri" pitchFamily="34" charset="-120"/>
              </a:rPr>
              <a:t>of the test cases passed - all modules verified as functionally accurate.</a:t>
            </a:r>
            <a:endParaRPr lang="en-US" sz="1500" dirty="0"/>
          </a:p>
        </p:txBody>
      </p:sp>
      <p:sp>
        <p:nvSpPr>
          <p:cNvPr id="9" name="Text 7"/>
          <p:cNvSpPr/>
          <p:nvPr/>
        </p:nvSpPr>
        <p:spPr>
          <a:xfrm>
            <a:off x="640080" y="4892040"/>
            <a:ext cx="10881360" cy="548640"/>
          </a:xfrm>
          <a:prstGeom prst="rect">
            <a:avLst/>
          </a:prstGeom>
          <a:noFill/>
          <a:ln/>
        </p:spPr>
        <p:txBody>
          <a:bodyPr wrap="square" rtlCol="0" anchor="ctr"/>
          <a:lstStyle/>
          <a:p>
            <a:pPr marL="0" indent="0">
              <a:buNone/>
            </a:pPr>
            <a:r>
              <a:rPr lang="en-US" sz="1600" dirty="0">
                <a:solidFill>
                  <a:srgbClr val="6E7480"/>
                </a:solidFill>
                <a:latin typeface="Calibri" pitchFamily="34" charset="0"/>
                <a:ea typeface="Calibri" pitchFamily="34" charset="-122"/>
                <a:cs typeface="Calibri" pitchFamily="34" charset="-120"/>
              </a:rPr>
              <a:t>Validation method: every result was compared against a hand-computed expected value on small, known data sets.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438912"/>
            <a:ext cx="10881360" cy="731520"/>
          </a:xfrm>
          <a:prstGeom prst="rect">
            <a:avLst/>
          </a:prstGeom>
          <a:noFill/>
          <a:ln/>
        </p:spPr>
        <p:txBody>
          <a:bodyPr wrap="square" rtlCol="0" anchor="ctr"/>
          <a:lstStyle/>
          <a:p>
            <a:pPr marL="0" indent="0">
              <a:buNone/>
            </a:pPr>
            <a:r>
              <a:rPr lang="en-US" sz="3000" b="1" dirty="0">
                <a:solidFill>
                  <a:srgbClr val="16243F"/>
                </a:solidFill>
                <a:latin typeface="Cambria" pitchFamily="34" charset="0"/>
                <a:ea typeface="Cambria" pitchFamily="34" charset="-122"/>
                <a:cs typeface="Cambria" pitchFamily="34" charset="-120"/>
              </a:rPr>
              <a:t>Challenges and Solutions</a:t>
            </a:r>
            <a:endParaRPr lang="en-US" sz="3000" dirty="0"/>
          </a:p>
        </p:txBody>
      </p:sp>
      <p:sp>
        <p:nvSpPr>
          <p:cNvPr id="3" name="Text 1"/>
          <p:cNvSpPr/>
          <p:nvPr/>
        </p:nvSpPr>
        <p:spPr>
          <a:xfrm>
            <a:off x="640080" y="5989320"/>
            <a:ext cx="6400800" cy="292608"/>
          </a:xfrm>
          <a:prstGeom prst="rect">
            <a:avLst/>
          </a:prstGeom>
          <a:noFill/>
          <a:ln/>
        </p:spPr>
        <p:txBody>
          <a:bodyPr wrap="square" rtlCol="0" anchor="ctr"/>
          <a:lstStyle/>
          <a:p>
            <a:pPr marL="0" indent="0">
              <a:buNone/>
            </a:pPr>
            <a:endParaRPr lang="en-US" sz="1400" dirty="0"/>
          </a:p>
        </p:txBody>
      </p:sp>
      <p:sp>
        <p:nvSpPr>
          <p:cNvPr id="4" name="Text 2"/>
          <p:cNvSpPr/>
          <p:nvPr/>
        </p:nvSpPr>
        <p:spPr>
          <a:xfrm>
            <a:off x="10607040" y="5989320"/>
            <a:ext cx="941832" cy="292608"/>
          </a:xfrm>
          <a:prstGeom prst="rect">
            <a:avLst/>
          </a:prstGeom>
          <a:noFill/>
          <a:ln/>
        </p:spPr>
        <p:txBody>
          <a:bodyPr wrap="square" rtlCol="0" anchor="ctr"/>
          <a:lstStyle/>
          <a:p>
            <a:pPr marL="0" indent="0" algn="r">
              <a:buNone/>
            </a:pPr>
            <a:r>
              <a:rPr lang="en-US" sz="1400" dirty="0">
                <a:solidFill>
                  <a:srgbClr val="6E7480"/>
                </a:solidFill>
                <a:latin typeface="Calibri" pitchFamily="34" charset="0"/>
                <a:ea typeface="Calibri" pitchFamily="34" charset="-122"/>
                <a:cs typeface="Calibri" pitchFamily="34" charset="-120"/>
              </a:rPr>
              <a:t>12</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881360" cy="3291840"/>
        </p:xfrm>
        <a:graphic>
          <a:graphicData uri="http://schemas.openxmlformats.org/drawingml/2006/table">
            <a:tbl>
              <a:tblPr/>
              <a:tblGrid>
                <a:gridCol w="502920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tblGrid>
              <a:tr h="82296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Issue faced</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16243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Final solution</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16243F"/>
                    </a:solidFill>
                  </a:tcPr>
                </a:tc>
                <a:extLst>
                  <a:ext uri="{0D108BD9-81ED-4DB2-BD59-A6C34878D82A}">
                    <a16:rowId xmlns:a16="http://schemas.microsoft.com/office/drawing/2014/main" val="10000"/>
                  </a:ext>
                </a:extLst>
              </a:tr>
              <a:tr h="822960">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Scanner buffer desynchronised,</a:t>
                      </a:r>
                      <a:endParaRPr lang="en-US" sz="1400" dirty="0">
                        <a:latin typeface="Calibri" charset="0"/>
                        <a:ea typeface="Calibri" charset="0"/>
                        <a:cs typeface="Calibri" charset="0"/>
                      </a:endParaRPr>
                    </a:p>
                    <a:p>
                      <a:pPr marL="0" indent="0">
                        <a:buNone/>
                      </a:pPr>
                      <a:r>
                        <a:rPr lang="en-US" sz="1400" dirty="0">
                          <a:solidFill>
                            <a:srgbClr val="2E3440"/>
                          </a:solidFill>
                          <a:latin typeface="Calibri" pitchFamily="34" charset="0"/>
                          <a:ea typeface="Calibri" pitchFamily="34" charset="-122"/>
                          <a:cs typeface="Calibri" pitchFamily="34" charset="-120"/>
                        </a:rPr>
                        <a:t>menu prompts were skipped</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Removed nextInt() completely; all input read</a:t>
                      </a:r>
                      <a:endParaRPr lang="en-US" sz="1400" dirty="0">
                        <a:latin typeface="Calibri" charset="0"/>
                        <a:ea typeface="Calibri" charset="0"/>
                        <a:cs typeface="Calibri" charset="0"/>
                      </a:endParaRPr>
                    </a:p>
                    <a:p>
                      <a:pPr marL="0" indent="0">
                        <a:buNone/>
                      </a:pPr>
                      <a:r>
                        <a:rPr lang="en-US" sz="1400" dirty="0">
                          <a:solidFill>
                            <a:srgbClr val="2E3440"/>
                          </a:solidFill>
                          <a:latin typeface="Calibri" pitchFamily="34" charset="0"/>
                          <a:ea typeface="Calibri" pitchFamily="34" charset="-122"/>
                          <a:cs typeface="Calibri" pitchFamily="34" charset="-120"/>
                        </a:rPr>
                        <a:t>with nextLine().trim() and Integer.parseInt</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Infinite recursion and stack overflow</a:t>
                      </a:r>
                      <a:endParaRPr lang="en-US" sz="1400" dirty="0">
                        <a:latin typeface="Calibri" charset="0"/>
                        <a:ea typeface="Calibri" charset="0"/>
                        <a:cs typeface="Calibri" charset="0"/>
                      </a:endParaRPr>
                    </a:p>
                    <a:p>
                      <a:pPr marL="0" indent="0">
                        <a:buNone/>
                      </a:pPr>
                      <a:r>
                        <a:rPr lang="en-US" sz="1400" dirty="0">
                          <a:solidFill>
                            <a:srgbClr val="2E3440"/>
                          </a:solidFill>
                          <a:latin typeface="Calibri" pitchFamily="34" charset="0"/>
                          <a:ea typeface="Calibri" pitchFamily="34" charset="-122"/>
                          <a:cs typeface="Calibri" pitchFamily="34" charset="-120"/>
                        </a:rPr>
                        <a:t>in Select on arrays full of duplicates</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Replaced 2-way partitioning with a 3-way</a:t>
                      </a:r>
                      <a:endParaRPr lang="en-US" sz="1400" dirty="0">
                        <a:latin typeface="Calibri" charset="0"/>
                        <a:ea typeface="Calibri" charset="0"/>
                        <a:cs typeface="Calibri" charset="0"/>
                      </a:endParaRPr>
                    </a:p>
                    <a:p>
                      <a:pPr marL="0" indent="0">
                        <a:buNone/>
                      </a:pPr>
                      <a:r>
                        <a:rPr lang="en-US" sz="1400" dirty="0">
                          <a:solidFill>
                            <a:srgbClr val="2E3440"/>
                          </a:solidFill>
                          <a:latin typeface="Calibri" pitchFamily="34" charset="0"/>
                          <a:ea typeface="Calibri" pitchFamily="34" charset="-122"/>
                          <a:cs typeface="Calibri" pitchFamily="34" charset="-120"/>
                        </a:rPr>
                        <a:t>scheme; duplicates are isolated in list E</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22960">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Scope conflicts and class redefinition</a:t>
                      </a:r>
                      <a:endParaRPr lang="en-US" sz="1400" dirty="0">
                        <a:latin typeface="Calibri" charset="0"/>
                        <a:ea typeface="Calibri" charset="0"/>
                        <a:cs typeface="Calibri" charset="0"/>
                      </a:endParaRPr>
                    </a:p>
                    <a:p>
                      <a:pPr marL="0" indent="0">
                        <a:buNone/>
                      </a:pPr>
                      <a:r>
                        <a:rPr lang="en-US" sz="1400" dirty="0">
                          <a:solidFill>
                            <a:srgbClr val="2E3440"/>
                          </a:solidFill>
                          <a:latin typeface="Calibri" pitchFamily="34" charset="0"/>
                          <a:ea typeface="Calibri" pitchFamily="34" charset="-122"/>
                          <a:cs typeface="Calibri" pitchFamily="34" charset="-120"/>
                        </a:rPr>
                        <a:t>when merging the three files</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tc>
                  <a:txBody>
                    <a:bodyPr/>
                    <a:lstStyle/>
                    <a:p>
                      <a:pPr marL="0" indent="0">
                        <a:buNone/>
                      </a:pPr>
                      <a:r>
                        <a:rPr lang="en-US" sz="1400" dirty="0">
                          <a:solidFill>
                            <a:srgbClr val="2E3440"/>
                          </a:solidFill>
                          <a:latin typeface="Calibri" pitchFamily="34" charset="0"/>
                          <a:ea typeface="Calibri" pitchFamily="34" charset="-122"/>
                          <a:cs typeface="Calibri" pitchFamily="34" charset="-120"/>
                        </a:rPr>
                        <a:t>Flattened into one public class with static</a:t>
                      </a:r>
                      <a:endParaRPr lang="en-US" sz="1400" dirty="0">
                        <a:latin typeface="Calibri" charset="0"/>
                        <a:ea typeface="Calibri" charset="0"/>
                        <a:cs typeface="Calibri" charset="0"/>
                      </a:endParaRPr>
                    </a:p>
                    <a:p>
                      <a:pPr marL="0" indent="0">
                        <a:buNone/>
                      </a:pPr>
                      <a:r>
                        <a:rPr lang="en-US" sz="1400" dirty="0">
                          <a:solidFill>
                            <a:srgbClr val="2E3440"/>
                          </a:solidFill>
                          <a:latin typeface="Calibri" pitchFamily="34" charset="0"/>
                          <a:ea typeface="Calibri" pitchFamily="34" charset="-122"/>
                          <a:cs typeface="Calibri" pitchFamily="34" charset="-120"/>
                        </a:rPr>
                        <a:t>methods and a static Edge helper class</a:t>
                      </a:r>
                      <a:endParaRPr lang="en-US" sz="1400" dirty="0">
                        <a:latin typeface="Calibri" charset="0"/>
                        <a:ea typeface="Calibri" charset="0"/>
                        <a:cs typeface="Calibri" charset="0"/>
                      </a:endParaRPr>
                    </a:p>
                  </a:txBody>
                  <a:tcPr marL="101600" marR="101600" marT="50800" marB="50800" anchor="ctr">
                    <a:lnL w="12700" cap="flat" cmpd="sng" algn="ctr">
                      <a:solidFill>
                        <a:srgbClr val="D9DCE3"/>
                      </a:solidFill>
                      <a:prstDash val="solid"/>
                      <a:round/>
                      <a:headEnd type="none" w="med" len="med"/>
                      <a:tailEnd type="none" w="med" len="med"/>
                    </a:lnL>
                    <a:lnR w="12700" cap="flat" cmpd="sng" algn="ctr">
                      <a:solidFill>
                        <a:srgbClr val="D9DCE3"/>
                      </a:solidFill>
                      <a:prstDash val="solid"/>
                      <a:round/>
                      <a:headEnd type="none" w="med" len="med"/>
                      <a:tailEnd type="none" w="med" len="med"/>
                    </a:lnR>
                    <a:lnT w="12700" cap="flat" cmpd="sng" algn="ctr">
                      <a:solidFill>
                        <a:srgbClr val="D9DCE3"/>
                      </a:solidFill>
                      <a:prstDash val="solid"/>
                      <a:round/>
                      <a:headEnd type="none" w="med" len="med"/>
                      <a:tailEnd type="none" w="med" len="med"/>
                    </a:lnT>
                    <a:lnB w="12700" cap="flat" cmpd="sng" algn="ctr">
                      <a:solidFill>
                        <a:srgbClr val="D9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3"/>
          <p:cNvSpPr/>
          <p:nvPr/>
        </p:nvSpPr>
        <p:spPr>
          <a:xfrm>
            <a:off x="640080" y="5029200"/>
            <a:ext cx="10881360" cy="457200"/>
          </a:xfrm>
          <a:prstGeom prst="rect">
            <a:avLst/>
          </a:prstGeom>
          <a:noFill/>
          <a:ln/>
        </p:spPr>
        <p:txBody>
          <a:bodyPr wrap="square" rtlCol="0" anchor="ctr"/>
          <a:lstStyle/>
          <a:p>
            <a:pPr marL="0" indent="0">
              <a:buNone/>
            </a:pPr>
            <a:r>
              <a:rPr lang="en-US" sz="1600" dirty="0">
                <a:solidFill>
                  <a:srgbClr val="6E7480"/>
                </a:solidFill>
                <a:latin typeface="Calibri" pitchFamily="34" charset="0"/>
                <a:ea typeface="Calibri" pitchFamily="34" charset="-122"/>
                <a:cs typeface="Calibri" pitchFamily="34" charset="-120"/>
              </a:rPr>
              <a:t>Known limitation: the program is CLI-only, so graphs are entered as text rather than drawn.</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438912"/>
            <a:ext cx="10881360" cy="731520"/>
          </a:xfrm>
          <a:prstGeom prst="rect">
            <a:avLst/>
          </a:prstGeom>
          <a:noFill/>
          <a:ln/>
        </p:spPr>
        <p:txBody>
          <a:bodyPr wrap="square" rtlCol="0" anchor="ctr"/>
          <a:lstStyle/>
          <a:p>
            <a:pPr marL="0" indent="0">
              <a:buNone/>
            </a:pPr>
            <a:r>
              <a:rPr lang="en-US" sz="3000" b="1" dirty="0">
                <a:solidFill>
                  <a:srgbClr val="16243F"/>
                </a:solidFill>
                <a:latin typeface="Cambria" pitchFamily="34" charset="0"/>
                <a:ea typeface="Cambria" pitchFamily="34" charset="-122"/>
                <a:cs typeface="Cambria" pitchFamily="34" charset="-120"/>
              </a:rPr>
              <a:t>Conclusion</a:t>
            </a:r>
            <a:endParaRPr lang="en-US" sz="3000" dirty="0"/>
          </a:p>
        </p:txBody>
      </p:sp>
      <p:sp>
        <p:nvSpPr>
          <p:cNvPr id="3" name="Text 1"/>
          <p:cNvSpPr/>
          <p:nvPr/>
        </p:nvSpPr>
        <p:spPr>
          <a:xfrm>
            <a:off x="640080" y="5989320"/>
            <a:ext cx="6400800" cy="292608"/>
          </a:xfrm>
          <a:prstGeom prst="rect">
            <a:avLst/>
          </a:prstGeom>
          <a:noFill/>
          <a:ln/>
        </p:spPr>
        <p:txBody>
          <a:bodyPr wrap="square" rtlCol="0" anchor="ctr"/>
          <a:lstStyle/>
          <a:p>
            <a:pPr marL="0" indent="0">
              <a:buNone/>
            </a:pPr>
            <a:endParaRPr lang="en-US" sz="1400" dirty="0"/>
          </a:p>
        </p:txBody>
      </p:sp>
      <p:sp>
        <p:nvSpPr>
          <p:cNvPr id="4" name="Text 2"/>
          <p:cNvSpPr/>
          <p:nvPr/>
        </p:nvSpPr>
        <p:spPr>
          <a:xfrm>
            <a:off x="10607040" y="5989320"/>
            <a:ext cx="941832" cy="292608"/>
          </a:xfrm>
          <a:prstGeom prst="rect">
            <a:avLst/>
          </a:prstGeom>
          <a:noFill/>
          <a:ln/>
        </p:spPr>
        <p:txBody>
          <a:bodyPr wrap="square" rtlCol="0" anchor="ctr"/>
          <a:lstStyle/>
          <a:p>
            <a:pPr marL="0" indent="0" algn="r">
              <a:buNone/>
            </a:pPr>
            <a:r>
              <a:rPr lang="en-US" sz="1400" dirty="0">
                <a:solidFill>
                  <a:srgbClr val="6E7480"/>
                </a:solidFill>
                <a:latin typeface="Calibri" pitchFamily="34" charset="0"/>
                <a:ea typeface="Calibri" pitchFamily="34" charset="-122"/>
                <a:cs typeface="Calibri" pitchFamily="34" charset="-120"/>
              </a:rPr>
              <a:t>13</a:t>
            </a:r>
            <a:endParaRPr lang="en-US" sz="1400" dirty="0"/>
          </a:p>
        </p:txBody>
      </p:sp>
      <p:sp>
        <p:nvSpPr>
          <p:cNvPr id="5" name="Text 3"/>
          <p:cNvSpPr/>
          <p:nvPr/>
        </p:nvSpPr>
        <p:spPr>
          <a:xfrm>
            <a:off x="640080" y="1737360"/>
            <a:ext cx="10881360" cy="3200400"/>
          </a:xfrm>
          <a:prstGeom prst="rect">
            <a:avLst/>
          </a:prstGeom>
          <a:noFill/>
          <a:ln/>
        </p:spPr>
        <p:txBody>
          <a:bodyPr wrap="square" rtlCol="0" anchor="t"/>
          <a:lstStyle/>
          <a:p>
            <a:pPr marL="342900" indent="-342900">
              <a:spcAft>
                <a:spcPts val="1600"/>
              </a:spcAft>
              <a:buSzPct val="100000"/>
              <a:buChar char="•"/>
            </a:pPr>
            <a:r>
              <a:rPr lang="en-US" sz="1800" dirty="0">
                <a:solidFill>
                  <a:srgbClr val="2E3440"/>
                </a:solidFill>
                <a:latin typeface="Calibri" pitchFamily="34" charset="0"/>
                <a:ea typeface="Calibri" pitchFamily="34" charset="-122"/>
                <a:cs typeface="Calibri" pitchFamily="34" charset="-120"/>
              </a:rPr>
              <a:t>Three course algorithms implemented, verified and analysed in one Java program</a:t>
            </a:r>
            <a:endParaRPr lang="en-US" sz="1800" dirty="0"/>
          </a:p>
          <a:p>
            <a:pPr marL="342900" indent="-342900">
              <a:spcAft>
                <a:spcPts val="1600"/>
              </a:spcAft>
              <a:buSzPct val="100000"/>
              <a:buChar char="•"/>
            </a:pPr>
            <a:r>
              <a:rPr lang="en-US" sz="1800" dirty="0">
                <a:solidFill>
                  <a:srgbClr val="2E3440"/>
                </a:solidFill>
                <a:latin typeface="Calibri" pitchFamily="34" charset="0"/>
                <a:ea typeface="Calibri" pitchFamily="34" charset="-122"/>
                <a:cs typeface="Calibri" pitchFamily="34" charset="-120"/>
              </a:rPr>
              <a:t>The right data structure matters - DSU turned cycle detection into a near-free check</a:t>
            </a:r>
            <a:endParaRPr lang="en-US" sz="1800" dirty="0"/>
          </a:p>
          <a:p>
            <a:pPr marL="342900" indent="-342900">
              <a:spcAft>
                <a:spcPts val="1600"/>
              </a:spcAft>
              <a:buSzPct val="100000"/>
              <a:buChar char="•"/>
            </a:pPr>
            <a:r>
              <a:rPr lang="en-US" sz="1800" dirty="0">
                <a:solidFill>
                  <a:srgbClr val="2E3440"/>
                </a:solidFill>
                <a:latin typeface="Calibri" pitchFamily="34" charset="0"/>
                <a:ea typeface="Calibri" pitchFamily="34" charset="-122"/>
                <a:cs typeface="Calibri" pitchFamily="34" charset="-120"/>
              </a:rPr>
              <a:t>Integration and input handling cost us more effort than the algorithms did</a:t>
            </a:r>
            <a:endParaRPr lang="en-US" sz="1800" dirty="0"/>
          </a:p>
          <a:p>
            <a:pPr marL="342900" indent="-342900">
              <a:spcAft>
                <a:spcPts val="1600"/>
              </a:spcAft>
              <a:buSzPct val="100000"/>
              <a:buChar char="•"/>
            </a:pPr>
            <a:r>
              <a:rPr lang="en-US" sz="1800" dirty="0">
                <a:solidFill>
                  <a:srgbClr val="2E3440"/>
                </a:solidFill>
                <a:latin typeface="Calibri" pitchFamily="34" charset="0"/>
                <a:ea typeface="Calibri" pitchFamily="34" charset="-122"/>
                <a:cs typeface="Calibri" pitchFamily="34" charset="-120"/>
              </a:rPr>
              <a:t>Next time: agree coding standards on day one and add a random test-data generator</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43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C1652F"/>
          </a:solidFill>
          <a:ln/>
        </p:spPr>
        <p:txBody>
          <a:bodyPr/>
          <a:lstStyle/>
          <a:p>
            <a:endParaRPr lang="ar-SA"/>
          </a:p>
        </p:txBody>
      </p:sp>
      <p:sp>
        <p:nvSpPr>
          <p:cNvPr id="3" name="Text 1"/>
          <p:cNvSpPr/>
          <p:nvPr/>
        </p:nvSpPr>
        <p:spPr>
          <a:xfrm>
            <a:off x="2262193" y="3262746"/>
            <a:ext cx="7664565" cy="822960"/>
          </a:xfrm>
          <a:prstGeom prst="rect">
            <a:avLst/>
          </a:prstGeom>
          <a:noFill/>
          <a:ln/>
        </p:spPr>
        <p:txBody>
          <a:bodyPr wrap="square" rtlCol="0" anchor="ctr"/>
          <a:lstStyle/>
          <a:p>
            <a:r>
              <a:rPr lang="en-US" sz="3600" b="1" dirty="0">
                <a:solidFill>
                  <a:schemeClr val="bg1"/>
                </a:solidFill>
                <a:latin typeface="Cambria" pitchFamily="34" charset="0"/>
                <a:ea typeface="Cambria" pitchFamily="34" charset="-122"/>
                <a:cs typeface="Cambria" pitchFamily="34" charset="-120"/>
              </a:rPr>
              <a:t>Thank you - questions are welcome.</a:t>
            </a:r>
            <a:endParaRPr lang="en-US" sz="3600" dirty="0">
              <a:solidFill>
                <a:schemeClr val="bg1"/>
              </a:solidFill>
            </a:endParaRPr>
          </a:p>
          <a:p>
            <a:pPr marL="0" indent="0">
              <a:buNone/>
            </a:pPr>
            <a:endParaRPr lang="en-US" sz="3600" dirty="0"/>
          </a:p>
        </p:txBody>
      </p:sp>
      <p:sp>
        <p:nvSpPr>
          <p:cNvPr id="10" name="Text 8"/>
          <p:cNvSpPr/>
          <p:nvPr/>
        </p:nvSpPr>
        <p:spPr>
          <a:xfrm>
            <a:off x="640080" y="5440680"/>
            <a:ext cx="10881360" cy="548640"/>
          </a:xfrm>
          <a:prstGeom prst="rect">
            <a:avLst/>
          </a:prstGeom>
          <a:noFill/>
          <a:ln/>
        </p:spPr>
        <p:txBody>
          <a:bodyPr wrap="square" rtlCol="0" anchor="ctr"/>
          <a:lstStyle/>
          <a:p>
            <a:pPr marL="0" indent="0">
              <a:buNone/>
            </a:pP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3162</Words>
  <Application>Microsoft Office PowerPoint</Application>
  <PresentationFormat>شاشة عريضة</PresentationFormat>
  <Paragraphs>245</Paragraphs>
  <Slides>15</Slides>
  <Notes>15</Notes>
  <HiddenSlides>0</HiddenSlides>
  <MMClips>0</MMClips>
  <ScaleCrop>false</ScaleCrop>
  <HeadingPairs>
    <vt:vector size="6" baseType="variant">
      <vt:variant>
        <vt:lpstr>الخطوط المستخدمة</vt:lpstr>
      </vt:variant>
      <vt:variant>
        <vt:i4>5</vt:i4>
      </vt:variant>
      <vt:variant>
        <vt:lpstr>نسق</vt:lpstr>
      </vt:variant>
      <vt:variant>
        <vt:i4>1</vt:i4>
      </vt:variant>
      <vt:variant>
        <vt:lpstr>عناوين الشرائح</vt:lpstr>
      </vt:variant>
      <vt:variant>
        <vt:i4>15</vt:i4>
      </vt:variant>
    </vt:vector>
  </HeadingPairs>
  <TitlesOfParts>
    <vt:vector size="21" baseType="lpstr">
      <vt:lpstr>Arial</vt:lpstr>
      <vt:lpstr>Calibri</vt:lpstr>
      <vt:lpstr>Cambria</vt:lpstr>
      <vt:lpstr>Cambria Math</vt:lpstr>
      <vt:lpstr>Consolas</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Merge, Selection and Kruskal's Algorithms in Java</dc:title>
  <dc:subject>PptxGenJS Presentation</dc:subject>
  <dc:creator>Group 4 - CSEN 3302</dc:creator>
  <cp:lastModifiedBy>سعيد غسان</cp:lastModifiedBy>
  <cp:revision>4</cp:revision>
  <dcterms:created xsi:type="dcterms:W3CDTF">2026-08-09T11:36:20Z</dcterms:created>
  <dcterms:modified xsi:type="dcterms:W3CDTF">2026-08-09T15:45:26Z</dcterms:modified>
</cp:coreProperties>
</file>